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20"/>
  </p:notesMasterIdLst>
  <p:sldIdLst>
    <p:sldId id="256" r:id="rId2"/>
    <p:sldId id="322" r:id="rId3"/>
    <p:sldId id="258" r:id="rId4"/>
    <p:sldId id="257" r:id="rId5"/>
    <p:sldId id="259" r:id="rId6"/>
    <p:sldId id="318" r:id="rId7"/>
    <p:sldId id="319" r:id="rId8"/>
    <p:sldId id="261" r:id="rId9"/>
    <p:sldId id="271" r:id="rId10"/>
    <p:sldId id="288" r:id="rId11"/>
    <p:sldId id="327" r:id="rId12"/>
    <p:sldId id="320" r:id="rId13"/>
    <p:sldId id="328" r:id="rId14"/>
    <p:sldId id="329" r:id="rId15"/>
    <p:sldId id="331" r:id="rId16"/>
    <p:sldId id="330" r:id="rId17"/>
    <p:sldId id="323" r:id="rId18"/>
    <p:sldId id="317" r:id="rId19"/>
  </p:sldIdLst>
  <p:sldSz cx="9144000" cy="5143500" type="screen16x9"/>
  <p:notesSz cx="6858000" cy="9144000"/>
  <p:embeddedFontLst>
    <p:embeddedFont>
      <p:font typeface="Gothic A1 Medium" panose="020B0604020202020204" charset="-127"/>
      <p:regular r:id="rId21"/>
      <p:bold r:id="rId22"/>
    </p:embeddedFont>
    <p:embeddedFont>
      <p:font typeface="Alata" panose="020B0604020202020204" charset="0"/>
      <p:regular r:id="rId23"/>
    </p:embeddedFont>
    <p:embeddedFont>
      <p:font typeface="Anaheim" panose="020B0604020202020204" charset="0"/>
      <p:regular r:id="rId24"/>
    </p:embeddedFont>
    <p:embeddedFont>
      <p:font typeface="Bebas Neue" panose="020B0604020202020204" charset="0"/>
      <p:regular r:id="rId25"/>
    </p:embeddedFont>
    <p:embeddedFont>
      <p:font typeface="Roboto Mono Medium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8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CA50FE-B302-41A2-85E2-D6C942287D85}">
  <a:tblStyle styleId="{09CA50FE-B302-41A2-85E2-D6C942287D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74" autoAdjust="0"/>
  </p:normalViewPr>
  <p:slideViewPr>
    <p:cSldViewPr snapToGrid="0">
      <p:cViewPr varScale="1">
        <p:scale>
          <a:sx n="105" d="100"/>
          <a:sy n="105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image" Target="../media/image6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604281-B020-4C9F-A7CE-A3927A57BCA0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AO"/>
        </a:p>
      </dgm:t>
    </dgm:pt>
    <dgm:pt modelId="{AC4C3659-8F68-484C-B56D-DDB95EA588CE}">
      <dgm:prSet phldrT="[Texto]"/>
      <dgm:spPr/>
      <dgm:t>
        <a:bodyPr/>
        <a:lstStyle/>
        <a:p>
          <a:r>
            <a:rPr lang="pt-BR"/>
            <a:t>INDEPENDENTES</a:t>
          </a:r>
          <a:endParaRPr lang="pt-AO" dirty="0"/>
        </a:p>
      </dgm:t>
    </dgm:pt>
    <dgm:pt modelId="{86003AE2-C0A2-4FBE-97FC-D77509CC3ECA}" type="parTrans" cxnId="{DF3FD16B-ECC0-4D6A-85BF-CE13B104E9BB}">
      <dgm:prSet/>
      <dgm:spPr/>
      <dgm:t>
        <a:bodyPr/>
        <a:lstStyle/>
        <a:p>
          <a:endParaRPr lang="pt-AO"/>
        </a:p>
      </dgm:t>
    </dgm:pt>
    <dgm:pt modelId="{85BE9E18-1327-4639-9C70-297EF25ABFCC}" type="sibTrans" cxnId="{DF3FD16B-ECC0-4D6A-85BF-CE13B104E9BB}">
      <dgm:prSet/>
      <dgm:spPr/>
      <dgm:t>
        <a:bodyPr/>
        <a:lstStyle/>
        <a:p>
          <a:endParaRPr lang="pt-AO"/>
        </a:p>
      </dgm:t>
    </dgm:pt>
    <dgm:pt modelId="{9359A6AA-B9D9-4BCA-9546-FC689C3F67E5}">
      <dgm:prSet phldrT="[Texto]"/>
      <dgm:spPr/>
      <dgm:t>
        <a:bodyPr/>
        <a:lstStyle/>
        <a:p>
          <a:r>
            <a:rPr lang="pt-BR" dirty="0"/>
            <a:t>DEPENDENTES</a:t>
          </a:r>
          <a:endParaRPr lang="pt-AO" dirty="0"/>
        </a:p>
      </dgm:t>
    </dgm:pt>
    <dgm:pt modelId="{A1701D56-92BC-40A8-BE08-93A62DF97276}" type="parTrans" cxnId="{06A86655-256F-41B1-A7D3-262050F39C21}">
      <dgm:prSet/>
      <dgm:spPr/>
      <dgm:t>
        <a:bodyPr/>
        <a:lstStyle/>
        <a:p>
          <a:endParaRPr lang="pt-AO"/>
        </a:p>
      </dgm:t>
    </dgm:pt>
    <dgm:pt modelId="{FC2998CC-9479-4BE5-AB4E-3291B67CAB48}" type="sibTrans" cxnId="{06A86655-256F-41B1-A7D3-262050F39C21}">
      <dgm:prSet/>
      <dgm:spPr/>
      <dgm:t>
        <a:bodyPr/>
        <a:lstStyle/>
        <a:p>
          <a:endParaRPr lang="pt-AO"/>
        </a:p>
      </dgm:t>
    </dgm:pt>
    <dgm:pt modelId="{DA029ACC-F929-4EE8-9BAA-14251CE6694C}">
      <dgm:prSet phldrT="[Texto]"/>
      <dgm:spPr/>
      <dgm:t>
        <a:bodyPr/>
        <a:lstStyle/>
        <a:p>
          <a:r>
            <a:rPr lang="pt-BR" dirty="0"/>
            <a:t>Eficiência </a:t>
          </a:r>
          <a:endParaRPr lang="pt-AO" dirty="0"/>
        </a:p>
      </dgm:t>
    </dgm:pt>
    <dgm:pt modelId="{678FAF42-25BF-4A72-BD90-B067AF754391}" type="parTrans" cxnId="{853B6821-7092-45D8-A4A4-FCF85BB2254D}">
      <dgm:prSet/>
      <dgm:spPr/>
      <dgm:t>
        <a:bodyPr/>
        <a:lstStyle/>
        <a:p>
          <a:endParaRPr lang="pt-AO"/>
        </a:p>
      </dgm:t>
    </dgm:pt>
    <dgm:pt modelId="{5ECFDDA4-39C8-4E7F-8571-745BBB19D570}" type="sibTrans" cxnId="{853B6821-7092-45D8-A4A4-FCF85BB2254D}">
      <dgm:prSet/>
      <dgm:spPr/>
      <dgm:t>
        <a:bodyPr/>
        <a:lstStyle/>
        <a:p>
          <a:endParaRPr lang="pt-AO"/>
        </a:p>
      </dgm:t>
    </dgm:pt>
    <dgm:pt modelId="{B29F6A40-70CB-471B-AE1A-9264686211E1}">
      <dgm:prSet phldrT="[Texto]"/>
      <dgm:spPr/>
      <dgm:t>
        <a:bodyPr/>
        <a:lstStyle/>
        <a:p>
          <a:r>
            <a:rPr lang="pt-BR" u="sng" dirty="0"/>
            <a:t>Confiável</a:t>
          </a:r>
          <a:r>
            <a:rPr lang="pt-BR" dirty="0"/>
            <a:t> no controle de presença dos estudantes </a:t>
          </a:r>
          <a:endParaRPr lang="pt-AO" dirty="0"/>
        </a:p>
      </dgm:t>
    </dgm:pt>
    <dgm:pt modelId="{52BC679B-DB8C-4D09-AB72-B6F0F0431E98}" type="parTrans" cxnId="{E5EBFEF5-1314-42E0-B12C-213B03279257}">
      <dgm:prSet/>
      <dgm:spPr/>
      <dgm:t>
        <a:bodyPr/>
        <a:lstStyle/>
        <a:p>
          <a:endParaRPr lang="pt-AO"/>
        </a:p>
      </dgm:t>
    </dgm:pt>
    <dgm:pt modelId="{508CB62E-33F3-4A49-8E66-1B194479A878}" type="sibTrans" cxnId="{E5EBFEF5-1314-42E0-B12C-213B03279257}">
      <dgm:prSet/>
      <dgm:spPr/>
      <dgm:t>
        <a:bodyPr/>
        <a:lstStyle/>
        <a:p>
          <a:endParaRPr lang="pt-AO"/>
        </a:p>
      </dgm:t>
    </dgm:pt>
    <dgm:pt modelId="{1CBA478F-9868-4FE3-9DE8-B129A6D609C3}">
      <dgm:prSet phldrT="[Texto]"/>
      <dgm:spPr/>
      <dgm:t>
        <a:bodyPr/>
        <a:lstStyle/>
        <a:p>
          <a:pPr algn="l"/>
          <a:r>
            <a:rPr lang="pt-BR" dirty="0"/>
            <a:t>Implementação de um sistema inteligente de reconhecimento facial</a:t>
          </a:r>
          <a:endParaRPr lang="pt-AO" dirty="0"/>
        </a:p>
      </dgm:t>
    </dgm:pt>
    <dgm:pt modelId="{7C68B2DA-4EA9-4374-A4F6-F78AC5956841}" type="sibTrans" cxnId="{AA872FD5-F676-468A-85B3-998D6C47CCD3}">
      <dgm:prSet/>
      <dgm:spPr/>
      <dgm:t>
        <a:bodyPr/>
        <a:lstStyle/>
        <a:p>
          <a:endParaRPr lang="pt-AO"/>
        </a:p>
      </dgm:t>
    </dgm:pt>
    <dgm:pt modelId="{50B5B641-331A-45B4-A1EC-4FE0D3F44B62}" type="parTrans" cxnId="{AA872FD5-F676-468A-85B3-998D6C47CCD3}">
      <dgm:prSet/>
      <dgm:spPr/>
      <dgm:t>
        <a:bodyPr/>
        <a:lstStyle/>
        <a:p>
          <a:endParaRPr lang="pt-AO"/>
        </a:p>
      </dgm:t>
    </dgm:pt>
    <dgm:pt modelId="{BE4E0762-5A69-4F62-84CF-1240BEDF638C}" type="pres">
      <dgm:prSet presAssocID="{A0604281-B020-4C9F-A7CE-A3927A57BCA0}" presName="Name0" presStyleCnt="0">
        <dgm:presLayoutVars>
          <dgm:dir/>
          <dgm:animLvl val="lvl"/>
          <dgm:resizeHandles val="exact"/>
        </dgm:presLayoutVars>
      </dgm:prSet>
      <dgm:spPr/>
    </dgm:pt>
    <dgm:pt modelId="{15B00FFC-DA66-4032-BA42-FAFB7CC7A428}" type="pres">
      <dgm:prSet presAssocID="{AC4C3659-8F68-484C-B56D-DDB95EA588CE}" presName="linNode" presStyleCnt="0"/>
      <dgm:spPr/>
    </dgm:pt>
    <dgm:pt modelId="{E9BBF01C-933D-49A8-8871-99E78DDE38A5}" type="pres">
      <dgm:prSet presAssocID="{AC4C3659-8F68-484C-B56D-DDB95EA588C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19C570B-3575-4E5D-977E-AFBB5CEFC131}" type="pres">
      <dgm:prSet presAssocID="{AC4C3659-8F68-484C-B56D-DDB95EA588CE}" presName="descendantText" presStyleLbl="alignAccFollowNode1" presStyleIdx="0" presStyleCnt="2" custScaleX="89885">
        <dgm:presLayoutVars>
          <dgm:bulletEnabled val="1"/>
        </dgm:presLayoutVars>
      </dgm:prSet>
      <dgm:spPr/>
    </dgm:pt>
    <dgm:pt modelId="{8EE23D61-A399-4C65-8F97-CC07E991E626}" type="pres">
      <dgm:prSet presAssocID="{85BE9E18-1327-4639-9C70-297EF25ABFCC}" presName="sp" presStyleCnt="0"/>
      <dgm:spPr/>
    </dgm:pt>
    <dgm:pt modelId="{9B718D49-C623-4006-9D07-4C12F775F403}" type="pres">
      <dgm:prSet presAssocID="{9359A6AA-B9D9-4BCA-9546-FC689C3F67E5}" presName="linNode" presStyleCnt="0"/>
      <dgm:spPr/>
    </dgm:pt>
    <dgm:pt modelId="{397DD7CB-F8A9-411F-A453-091DE168F5F2}" type="pres">
      <dgm:prSet presAssocID="{9359A6AA-B9D9-4BCA-9546-FC689C3F67E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ADA8D87-6269-4A59-935F-F486678CA92A}" type="pres">
      <dgm:prSet presAssocID="{9359A6AA-B9D9-4BCA-9546-FC689C3F67E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53B6821-7092-45D8-A4A4-FCF85BB2254D}" srcId="{9359A6AA-B9D9-4BCA-9546-FC689C3F67E5}" destId="{DA029ACC-F929-4EE8-9BAA-14251CE6694C}" srcOrd="0" destOrd="0" parTransId="{678FAF42-25BF-4A72-BD90-B067AF754391}" sibTransId="{5ECFDDA4-39C8-4E7F-8571-745BBB19D570}"/>
    <dgm:cxn modelId="{00449644-16C9-4487-AA5F-FE5DB6AA100B}" type="presOf" srcId="{B29F6A40-70CB-471B-AE1A-9264686211E1}" destId="{3ADA8D87-6269-4A59-935F-F486678CA92A}" srcOrd="0" destOrd="1" presId="urn:microsoft.com/office/officeart/2005/8/layout/vList5"/>
    <dgm:cxn modelId="{DF367968-6257-4B3B-B4E5-DDECDD2C7DA3}" type="presOf" srcId="{9359A6AA-B9D9-4BCA-9546-FC689C3F67E5}" destId="{397DD7CB-F8A9-411F-A453-091DE168F5F2}" srcOrd="0" destOrd="0" presId="urn:microsoft.com/office/officeart/2005/8/layout/vList5"/>
    <dgm:cxn modelId="{5C92766A-A99B-457E-ADF4-FA3E2D6F41D9}" type="presOf" srcId="{AC4C3659-8F68-484C-B56D-DDB95EA588CE}" destId="{E9BBF01C-933D-49A8-8871-99E78DDE38A5}" srcOrd="0" destOrd="0" presId="urn:microsoft.com/office/officeart/2005/8/layout/vList5"/>
    <dgm:cxn modelId="{6AFB534B-4529-4D1A-A51D-26B38A72FD6E}" type="presOf" srcId="{DA029ACC-F929-4EE8-9BAA-14251CE6694C}" destId="{3ADA8D87-6269-4A59-935F-F486678CA92A}" srcOrd="0" destOrd="0" presId="urn:microsoft.com/office/officeart/2005/8/layout/vList5"/>
    <dgm:cxn modelId="{DF3FD16B-ECC0-4D6A-85BF-CE13B104E9BB}" srcId="{A0604281-B020-4C9F-A7CE-A3927A57BCA0}" destId="{AC4C3659-8F68-484C-B56D-DDB95EA588CE}" srcOrd="0" destOrd="0" parTransId="{86003AE2-C0A2-4FBE-97FC-D77509CC3ECA}" sibTransId="{85BE9E18-1327-4639-9C70-297EF25ABFCC}"/>
    <dgm:cxn modelId="{06A86655-256F-41B1-A7D3-262050F39C21}" srcId="{A0604281-B020-4C9F-A7CE-A3927A57BCA0}" destId="{9359A6AA-B9D9-4BCA-9546-FC689C3F67E5}" srcOrd="1" destOrd="0" parTransId="{A1701D56-92BC-40A8-BE08-93A62DF97276}" sibTransId="{FC2998CC-9479-4BE5-AB4E-3291B67CAB48}"/>
    <dgm:cxn modelId="{7B9BCFC4-01D1-42A6-A6EE-22AE3938ECBC}" type="presOf" srcId="{A0604281-B020-4C9F-A7CE-A3927A57BCA0}" destId="{BE4E0762-5A69-4F62-84CF-1240BEDF638C}" srcOrd="0" destOrd="0" presId="urn:microsoft.com/office/officeart/2005/8/layout/vList5"/>
    <dgm:cxn modelId="{8F58EDD3-3A2B-40AE-B32F-3C743966383B}" type="presOf" srcId="{1CBA478F-9868-4FE3-9DE8-B129A6D609C3}" destId="{519C570B-3575-4E5D-977E-AFBB5CEFC131}" srcOrd="0" destOrd="0" presId="urn:microsoft.com/office/officeart/2005/8/layout/vList5"/>
    <dgm:cxn modelId="{AA872FD5-F676-468A-85B3-998D6C47CCD3}" srcId="{AC4C3659-8F68-484C-B56D-DDB95EA588CE}" destId="{1CBA478F-9868-4FE3-9DE8-B129A6D609C3}" srcOrd="0" destOrd="0" parTransId="{50B5B641-331A-45B4-A1EC-4FE0D3F44B62}" sibTransId="{7C68B2DA-4EA9-4374-A4F6-F78AC5956841}"/>
    <dgm:cxn modelId="{E5EBFEF5-1314-42E0-B12C-213B03279257}" srcId="{9359A6AA-B9D9-4BCA-9546-FC689C3F67E5}" destId="{B29F6A40-70CB-471B-AE1A-9264686211E1}" srcOrd="1" destOrd="0" parTransId="{52BC679B-DB8C-4D09-AB72-B6F0F0431E98}" sibTransId="{508CB62E-33F3-4A49-8E66-1B194479A878}"/>
    <dgm:cxn modelId="{DC0FC91F-31A7-49A3-B411-B05DEF05CD1B}" type="presParOf" srcId="{BE4E0762-5A69-4F62-84CF-1240BEDF638C}" destId="{15B00FFC-DA66-4032-BA42-FAFB7CC7A428}" srcOrd="0" destOrd="0" presId="urn:microsoft.com/office/officeart/2005/8/layout/vList5"/>
    <dgm:cxn modelId="{7A449D5E-96F5-4482-B257-70B3665FDA27}" type="presParOf" srcId="{15B00FFC-DA66-4032-BA42-FAFB7CC7A428}" destId="{E9BBF01C-933D-49A8-8871-99E78DDE38A5}" srcOrd="0" destOrd="0" presId="urn:microsoft.com/office/officeart/2005/8/layout/vList5"/>
    <dgm:cxn modelId="{1865F120-0F9B-4445-908A-34A56CE3E649}" type="presParOf" srcId="{15B00FFC-DA66-4032-BA42-FAFB7CC7A428}" destId="{519C570B-3575-4E5D-977E-AFBB5CEFC131}" srcOrd="1" destOrd="0" presId="urn:microsoft.com/office/officeart/2005/8/layout/vList5"/>
    <dgm:cxn modelId="{F9E4E185-42BE-4295-BD1A-584DFAF3FA59}" type="presParOf" srcId="{BE4E0762-5A69-4F62-84CF-1240BEDF638C}" destId="{8EE23D61-A399-4C65-8F97-CC07E991E626}" srcOrd="1" destOrd="0" presId="urn:microsoft.com/office/officeart/2005/8/layout/vList5"/>
    <dgm:cxn modelId="{9E9BA020-5C46-4755-8B96-009F3F7389AD}" type="presParOf" srcId="{BE4E0762-5A69-4F62-84CF-1240BEDF638C}" destId="{9B718D49-C623-4006-9D07-4C12F775F403}" srcOrd="2" destOrd="0" presId="urn:microsoft.com/office/officeart/2005/8/layout/vList5"/>
    <dgm:cxn modelId="{EFDD30AE-3C6A-4BD1-ADF4-52C32285D5B1}" type="presParOf" srcId="{9B718D49-C623-4006-9D07-4C12F775F403}" destId="{397DD7CB-F8A9-411F-A453-091DE168F5F2}" srcOrd="0" destOrd="0" presId="urn:microsoft.com/office/officeart/2005/8/layout/vList5"/>
    <dgm:cxn modelId="{61CFD035-0829-437D-BE68-A774C3D6FC5D}" type="presParOf" srcId="{9B718D49-C623-4006-9D07-4C12F775F403}" destId="{3ADA8D87-6269-4A59-935F-F486678CA92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54C4D4-0EB2-484C-AB53-F9237B02EF68}" type="doc">
      <dgm:prSet loTypeId="urn:microsoft.com/office/officeart/2005/8/layout/bList2" loCatId="picture" qsTypeId="urn:microsoft.com/office/officeart/2005/8/quickstyle/simple1" qsCatId="simple" csTypeId="urn:microsoft.com/office/officeart/2005/8/colors/accent1_2" csCatId="accent1" phldr="1"/>
      <dgm:spPr/>
    </dgm:pt>
    <dgm:pt modelId="{A3C6BCE0-6CFB-4561-AE7D-769662B9A028}">
      <dgm:prSet phldrT="[Texto]" custT="1"/>
      <dgm:spPr/>
      <dgm:t>
        <a:bodyPr/>
        <a:lstStyle/>
        <a:p>
          <a:pPr algn="ctr"/>
          <a:r>
            <a:rPr lang="pt-BR" sz="2000" b="1" dirty="0"/>
            <a:t>OBSERVAÇÃO</a:t>
          </a:r>
          <a:endParaRPr lang="pt-AO" sz="2000" b="1" dirty="0"/>
        </a:p>
      </dgm:t>
    </dgm:pt>
    <dgm:pt modelId="{3A15E424-06BE-47B2-80E4-0D9F740B58DB}" type="parTrans" cxnId="{01DA732A-04B4-4BD2-B873-D4E1F0060918}">
      <dgm:prSet/>
      <dgm:spPr/>
      <dgm:t>
        <a:bodyPr/>
        <a:lstStyle/>
        <a:p>
          <a:endParaRPr lang="pt-AO"/>
        </a:p>
      </dgm:t>
    </dgm:pt>
    <dgm:pt modelId="{B52F1A52-0287-42DD-AD63-BF2F9FD8DD8C}" type="sibTrans" cxnId="{01DA732A-04B4-4BD2-B873-D4E1F0060918}">
      <dgm:prSet/>
      <dgm:spPr/>
      <dgm:t>
        <a:bodyPr/>
        <a:lstStyle/>
        <a:p>
          <a:endParaRPr lang="pt-AO"/>
        </a:p>
      </dgm:t>
    </dgm:pt>
    <dgm:pt modelId="{AE354A1B-3462-49E2-B6DD-6E89775C4C07}">
      <dgm:prSet phldrT="[Texto]" custT="1"/>
      <dgm:spPr/>
      <dgm:t>
        <a:bodyPr/>
        <a:lstStyle/>
        <a:p>
          <a:pPr algn="ctr"/>
          <a:r>
            <a:rPr lang="pt-BR" sz="2000" b="1" dirty="0"/>
            <a:t>INQUERITO</a:t>
          </a:r>
          <a:endParaRPr lang="pt-AO" sz="2000" b="1" dirty="0"/>
        </a:p>
      </dgm:t>
    </dgm:pt>
    <dgm:pt modelId="{2EB51707-7E65-4621-9053-A0D8BE0EF949}" type="parTrans" cxnId="{DB704E34-63BB-4031-AFFF-9A500D1C915F}">
      <dgm:prSet/>
      <dgm:spPr/>
      <dgm:t>
        <a:bodyPr/>
        <a:lstStyle/>
        <a:p>
          <a:endParaRPr lang="pt-AO"/>
        </a:p>
      </dgm:t>
    </dgm:pt>
    <dgm:pt modelId="{9C924B0C-143E-4E43-A276-E848366EBB1B}" type="sibTrans" cxnId="{DB704E34-63BB-4031-AFFF-9A500D1C915F}">
      <dgm:prSet/>
      <dgm:spPr/>
      <dgm:t>
        <a:bodyPr/>
        <a:lstStyle/>
        <a:p>
          <a:endParaRPr lang="pt-AO"/>
        </a:p>
      </dgm:t>
    </dgm:pt>
    <dgm:pt modelId="{7A2565BE-96D1-42AB-A908-79CE7F1BF32C}">
      <dgm:prSet phldrT="[Texto]"/>
      <dgm:spPr/>
      <dgm:t>
        <a:bodyPr/>
        <a:lstStyle/>
        <a:p>
          <a:r>
            <a:rPr lang="pt-BR" b="1" dirty="0"/>
            <a:t>ENTREVISTA</a:t>
          </a:r>
          <a:endParaRPr lang="pt-AO" b="1" dirty="0"/>
        </a:p>
      </dgm:t>
    </dgm:pt>
    <dgm:pt modelId="{3A0FD2F2-A384-4F11-B010-7922FDF08176}" type="parTrans" cxnId="{98AC66A4-1C7E-4D2C-9543-4C56AA404858}">
      <dgm:prSet/>
      <dgm:spPr/>
      <dgm:t>
        <a:bodyPr/>
        <a:lstStyle/>
        <a:p>
          <a:endParaRPr lang="pt-AO"/>
        </a:p>
      </dgm:t>
    </dgm:pt>
    <dgm:pt modelId="{6FF9B3C8-F5B4-46D2-A447-9C9321778CD7}" type="sibTrans" cxnId="{98AC66A4-1C7E-4D2C-9543-4C56AA404858}">
      <dgm:prSet/>
      <dgm:spPr/>
      <dgm:t>
        <a:bodyPr/>
        <a:lstStyle/>
        <a:p>
          <a:endParaRPr lang="pt-AO"/>
        </a:p>
      </dgm:t>
    </dgm:pt>
    <dgm:pt modelId="{16BFE5E3-A18F-4ADC-8B44-3F2DAC9FDBC2}">
      <dgm:prSet phldrT="[Texto]"/>
      <dgm:spPr/>
      <dgm:t>
        <a:bodyPr/>
        <a:lstStyle/>
        <a:p>
          <a:pPr algn="ctr"/>
          <a:r>
            <a:rPr lang="pt-BR" b="1" dirty="0"/>
            <a:t>CHUVA DE IDEIAS</a:t>
          </a:r>
          <a:endParaRPr lang="pt-AO" b="1" dirty="0"/>
        </a:p>
      </dgm:t>
    </dgm:pt>
    <dgm:pt modelId="{75E0DCB5-78D0-4F5B-A7B4-3B49F8E5EB69}" type="parTrans" cxnId="{3CB3D899-6A9E-4E66-8046-C7B692FD3E5C}">
      <dgm:prSet/>
      <dgm:spPr/>
      <dgm:t>
        <a:bodyPr/>
        <a:lstStyle/>
        <a:p>
          <a:endParaRPr lang="pt-AO"/>
        </a:p>
      </dgm:t>
    </dgm:pt>
    <dgm:pt modelId="{DCF2EEC6-E374-4CC3-A676-DA57CD666DAA}" type="sibTrans" cxnId="{3CB3D899-6A9E-4E66-8046-C7B692FD3E5C}">
      <dgm:prSet/>
      <dgm:spPr/>
      <dgm:t>
        <a:bodyPr/>
        <a:lstStyle/>
        <a:p>
          <a:endParaRPr lang="pt-AO"/>
        </a:p>
      </dgm:t>
    </dgm:pt>
    <dgm:pt modelId="{87A9D8EE-7716-476B-99C2-177DD1C371C2}">
      <dgm:prSet custT="1"/>
      <dgm:spPr/>
      <dgm:t>
        <a:bodyPr/>
        <a:lstStyle/>
        <a:p>
          <a:r>
            <a:rPr lang="pt-BR" sz="1200" dirty="0"/>
            <a:t>Será realizada nas salas de aula e portões de acesso do ISP-BIÉ, com o objetivo de identificar como o processo de controle de presença é executado atualmente, registrando limitações, falhas e oportunidades para automatização, sem interferência direta no ambiente observado.</a:t>
          </a:r>
          <a:endParaRPr lang="pt-AO" sz="1200" dirty="0"/>
        </a:p>
      </dgm:t>
    </dgm:pt>
    <dgm:pt modelId="{FAC566CC-F4D4-4E35-8D66-B01F82E8D59C}" type="parTrans" cxnId="{C76BDD45-A051-4501-85E8-5EAAAEC600B9}">
      <dgm:prSet/>
      <dgm:spPr/>
      <dgm:t>
        <a:bodyPr/>
        <a:lstStyle/>
        <a:p>
          <a:endParaRPr lang="pt-AO"/>
        </a:p>
      </dgm:t>
    </dgm:pt>
    <dgm:pt modelId="{6F939677-8786-4AE2-83BA-E2EC21EBAA28}" type="sibTrans" cxnId="{C76BDD45-A051-4501-85E8-5EAAAEC600B9}">
      <dgm:prSet/>
      <dgm:spPr/>
      <dgm:t>
        <a:bodyPr/>
        <a:lstStyle/>
        <a:p>
          <a:endParaRPr lang="pt-AO"/>
        </a:p>
      </dgm:t>
    </dgm:pt>
    <dgm:pt modelId="{1D134814-D9C8-46C8-A453-DF3D099744F8}">
      <dgm:prSet custT="1"/>
      <dgm:spPr/>
      <dgm:t>
        <a:bodyPr/>
        <a:lstStyle/>
        <a:p>
          <a:r>
            <a:rPr lang="pt-PT" sz="1200" dirty="0"/>
            <a:t>Serão aplicados a estudantes e professores por meio de formulários online ou físicos, para recolher dados sobre a perceção do método atual de registo de presenças, nível de satisfação, expectativas e sugestões quanto ao uso de um sistema baseado em reconhecimento facial.</a:t>
          </a:r>
          <a:endParaRPr lang="pt-AO" sz="1200" dirty="0"/>
        </a:p>
      </dgm:t>
    </dgm:pt>
    <dgm:pt modelId="{0C8D8A3E-D303-4F87-8D30-EE0875847BDA}" type="parTrans" cxnId="{15A82972-3112-47DA-BD54-8A1CD043AAA2}">
      <dgm:prSet/>
      <dgm:spPr/>
      <dgm:t>
        <a:bodyPr/>
        <a:lstStyle/>
        <a:p>
          <a:endParaRPr lang="pt-AO"/>
        </a:p>
      </dgm:t>
    </dgm:pt>
    <dgm:pt modelId="{6B5ADC2C-B2D1-4F1C-929F-2D7F91CFC82E}" type="sibTrans" cxnId="{15A82972-3112-47DA-BD54-8A1CD043AAA2}">
      <dgm:prSet/>
      <dgm:spPr/>
      <dgm:t>
        <a:bodyPr/>
        <a:lstStyle/>
        <a:p>
          <a:endParaRPr lang="pt-AO"/>
        </a:p>
      </dgm:t>
    </dgm:pt>
    <dgm:pt modelId="{DDF956D4-EFFD-48C1-94D6-E49D16C5772E}">
      <dgm:prSet custT="1"/>
      <dgm:spPr/>
      <dgm:t>
        <a:bodyPr/>
        <a:lstStyle/>
        <a:p>
          <a:r>
            <a:rPr lang="pt-PT" sz="1200" dirty="0"/>
            <a:t>Serão conduzidas com coordenadores, professores e responsáveis administrativos, visando compreender as necessidades reais da instituição, identificar requisitos específicos para o sistema proposto e captar opiniões sobre segurança, funcionalidade e aplicabilidade do </a:t>
          </a:r>
          <a:r>
            <a:rPr lang="pt-PT" sz="1200" dirty="0" err="1"/>
            <a:t>SmartAccess</a:t>
          </a:r>
          <a:r>
            <a:rPr lang="pt-PT" sz="1200" dirty="0"/>
            <a:t>.</a:t>
          </a:r>
          <a:endParaRPr lang="pt-AO" sz="1200" dirty="0">
            <a:latin typeface="+mj-lt"/>
          </a:endParaRPr>
        </a:p>
      </dgm:t>
    </dgm:pt>
    <dgm:pt modelId="{5D69903E-8505-48CB-9D62-6DFCAA8C78CC}" type="parTrans" cxnId="{AAE2B3CF-601B-475F-BE73-F49A5A083526}">
      <dgm:prSet/>
      <dgm:spPr/>
      <dgm:t>
        <a:bodyPr/>
        <a:lstStyle/>
        <a:p>
          <a:endParaRPr lang="pt-AO"/>
        </a:p>
      </dgm:t>
    </dgm:pt>
    <dgm:pt modelId="{4E8C0646-2E08-4AFC-B48D-0584E3496FCE}" type="sibTrans" cxnId="{AAE2B3CF-601B-475F-BE73-F49A5A083526}">
      <dgm:prSet/>
      <dgm:spPr/>
      <dgm:t>
        <a:bodyPr/>
        <a:lstStyle/>
        <a:p>
          <a:endParaRPr lang="pt-AO"/>
        </a:p>
      </dgm:t>
    </dgm:pt>
    <dgm:pt modelId="{68B69559-940A-4F7C-9934-CFC1ACBE6C3A}">
      <dgm:prSet custT="1"/>
      <dgm:spPr/>
      <dgm:t>
        <a:bodyPr/>
        <a:lstStyle/>
        <a:p>
          <a:r>
            <a:rPr lang="pt-PT" sz="1200" dirty="0"/>
            <a:t>Será realizada com um grupo reduzido de participantes (docentes, estudantes e técnico de informática), para estimular a geração de ideias criativas sobre funcionalidades, usabilidade e possíveis melhorias, contribuindo diretamente para a </a:t>
          </a:r>
          <a:r>
            <a:rPr lang="pt-PT" sz="1200" dirty="0" err="1"/>
            <a:t>concepção</a:t>
          </a:r>
          <a:r>
            <a:rPr lang="pt-PT" sz="1200" dirty="0"/>
            <a:t> e interface do sistema.</a:t>
          </a:r>
          <a:endParaRPr lang="pt-AO" sz="1200" dirty="0">
            <a:latin typeface="+mj-lt"/>
          </a:endParaRPr>
        </a:p>
      </dgm:t>
    </dgm:pt>
    <dgm:pt modelId="{8339D150-0FFD-4B59-A031-A50A17A2F6C7}" type="parTrans" cxnId="{FA009EAE-C63B-4EBD-883A-8AC9879CB4BD}">
      <dgm:prSet/>
      <dgm:spPr/>
      <dgm:t>
        <a:bodyPr/>
        <a:lstStyle/>
        <a:p>
          <a:endParaRPr lang="pt-AO"/>
        </a:p>
      </dgm:t>
    </dgm:pt>
    <dgm:pt modelId="{57269920-EE0B-40BF-998E-06B3DF65969B}" type="sibTrans" cxnId="{FA009EAE-C63B-4EBD-883A-8AC9879CB4BD}">
      <dgm:prSet/>
      <dgm:spPr/>
      <dgm:t>
        <a:bodyPr/>
        <a:lstStyle/>
        <a:p>
          <a:endParaRPr lang="pt-AO"/>
        </a:p>
      </dgm:t>
    </dgm:pt>
    <dgm:pt modelId="{1312A641-0DE3-4FB0-886A-3C7B770ED147}" type="pres">
      <dgm:prSet presAssocID="{9154C4D4-0EB2-484C-AB53-F9237B02EF68}" presName="diagram" presStyleCnt="0">
        <dgm:presLayoutVars>
          <dgm:dir/>
          <dgm:animLvl val="lvl"/>
          <dgm:resizeHandles val="exact"/>
        </dgm:presLayoutVars>
      </dgm:prSet>
      <dgm:spPr/>
    </dgm:pt>
    <dgm:pt modelId="{CF465A1B-E530-426B-BB1F-8F66F94448E3}" type="pres">
      <dgm:prSet presAssocID="{A3C6BCE0-6CFB-4561-AE7D-769662B9A028}" presName="compNode" presStyleCnt="0"/>
      <dgm:spPr/>
    </dgm:pt>
    <dgm:pt modelId="{C5C12044-0A9C-454F-ACF7-532C29D16FA8}" type="pres">
      <dgm:prSet presAssocID="{A3C6BCE0-6CFB-4561-AE7D-769662B9A028}" presName="childRect" presStyleLbl="bgAcc1" presStyleIdx="0" presStyleCnt="4" custScaleX="240144" custLinFactNeighborX="-12398" custLinFactNeighborY="2819">
        <dgm:presLayoutVars>
          <dgm:bulletEnabled val="1"/>
        </dgm:presLayoutVars>
      </dgm:prSet>
      <dgm:spPr/>
    </dgm:pt>
    <dgm:pt modelId="{C42D40B0-E31C-4DE8-BA92-BC96546B3950}" type="pres">
      <dgm:prSet presAssocID="{A3C6BCE0-6CFB-4561-AE7D-769662B9A02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6AD13DF-F479-40B6-941A-700BBB979533}" type="pres">
      <dgm:prSet presAssocID="{A3C6BCE0-6CFB-4561-AE7D-769662B9A028}" presName="parentRect" presStyleLbl="alignNode1" presStyleIdx="0" presStyleCnt="4" custScaleX="195076" custLinFactNeighborX="-32243" custLinFactNeighborY="10393"/>
      <dgm:spPr/>
    </dgm:pt>
    <dgm:pt modelId="{C9C4880D-31F2-4181-9248-CAFEB9794961}" type="pres">
      <dgm:prSet presAssocID="{A3C6BCE0-6CFB-4561-AE7D-769662B9A028}" presName="adorn" presStyleLbl="fgAccFollowNode1" presStyleIdx="0" presStyleCnt="4" custScaleX="87846" custScaleY="86331" custLinFactNeighborX="-25411" custLinFactNeighborY="-794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2000" r="-92000"/>
          </a:stretch>
        </a:blipFill>
      </dgm:spPr>
    </dgm:pt>
    <dgm:pt modelId="{9E0C29EE-508D-4076-818A-C4860B15FA1C}" type="pres">
      <dgm:prSet presAssocID="{B52F1A52-0287-42DD-AD63-BF2F9FD8DD8C}" presName="sibTrans" presStyleLbl="sibTrans2D1" presStyleIdx="0" presStyleCnt="0"/>
      <dgm:spPr/>
    </dgm:pt>
    <dgm:pt modelId="{2D231EF3-3499-414D-A982-8BBA5CD34780}" type="pres">
      <dgm:prSet presAssocID="{AE354A1B-3462-49E2-B6DD-6E89775C4C07}" presName="compNode" presStyleCnt="0"/>
      <dgm:spPr/>
    </dgm:pt>
    <dgm:pt modelId="{2A4C9BA0-D7AF-4367-8C8A-971B161A191A}" type="pres">
      <dgm:prSet presAssocID="{AE354A1B-3462-49E2-B6DD-6E89775C4C07}" presName="childRect" presStyleLbl="bgAcc1" presStyleIdx="1" presStyleCnt="4" custScaleX="229426" custLinFactNeighborX="1784" custLinFactNeighborY="2978">
        <dgm:presLayoutVars>
          <dgm:bulletEnabled val="1"/>
        </dgm:presLayoutVars>
      </dgm:prSet>
      <dgm:spPr/>
    </dgm:pt>
    <dgm:pt modelId="{3FD8F0F7-E4BD-4B01-B972-B0D575068A09}" type="pres">
      <dgm:prSet presAssocID="{AE354A1B-3462-49E2-B6DD-6E89775C4C0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D47DF38-DB16-4608-A62A-6BB622C3D8C1}" type="pres">
      <dgm:prSet presAssocID="{AE354A1B-3462-49E2-B6DD-6E89775C4C07}" presName="parentRect" presStyleLbl="alignNode1" presStyleIdx="1" presStyleCnt="4" custScaleX="187991" custLinFactNeighborX="-20311" custLinFactNeighborY="8643"/>
      <dgm:spPr/>
    </dgm:pt>
    <dgm:pt modelId="{770F0D45-2697-4766-8A9B-BBCE6D4C1971}" type="pres">
      <dgm:prSet presAssocID="{AE354A1B-3462-49E2-B6DD-6E89775C4C07}" presName="adorn" presStyleLbl="fgAccFollowNode1" presStyleIdx="1" presStyleCnt="4" custScaleX="87835" custScaleY="76712" custLinFactNeighborY="-983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</dgm:spPr>
    </dgm:pt>
    <dgm:pt modelId="{C2CEEAE6-7B83-4135-B928-8C1D06E5CB66}" type="pres">
      <dgm:prSet presAssocID="{9C924B0C-143E-4E43-A276-E848366EBB1B}" presName="sibTrans" presStyleLbl="sibTrans2D1" presStyleIdx="0" presStyleCnt="0"/>
      <dgm:spPr/>
    </dgm:pt>
    <dgm:pt modelId="{77664CB5-B2D9-4334-95D9-61C1C9A5BF98}" type="pres">
      <dgm:prSet presAssocID="{7A2565BE-96D1-42AB-A908-79CE7F1BF32C}" presName="compNode" presStyleCnt="0"/>
      <dgm:spPr/>
    </dgm:pt>
    <dgm:pt modelId="{D850D026-7828-4883-9003-36FC71F6F558}" type="pres">
      <dgm:prSet presAssocID="{7A2565BE-96D1-42AB-A908-79CE7F1BF32C}" presName="childRect" presStyleLbl="bgAcc1" presStyleIdx="2" presStyleCnt="4" custScaleX="224816" custScaleY="100000" custLinFactX="100000" custLinFactNeighborX="152416" custLinFactNeighborY="12081">
        <dgm:presLayoutVars>
          <dgm:bulletEnabled val="1"/>
        </dgm:presLayoutVars>
      </dgm:prSet>
      <dgm:spPr/>
    </dgm:pt>
    <dgm:pt modelId="{6BDCAB8C-6058-4531-9E02-0A6A971F4A22}" type="pres">
      <dgm:prSet presAssocID="{7A2565BE-96D1-42AB-A908-79CE7F1BF32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143BE55-355E-4C46-8670-9CC8FC6667BF}" type="pres">
      <dgm:prSet presAssocID="{7A2565BE-96D1-42AB-A908-79CE7F1BF32C}" presName="parentRect" presStyleLbl="alignNode1" presStyleIdx="2" presStyleCnt="4" custScaleX="193830" custLinFactNeighborX="-20055" custLinFactNeighborY="25296"/>
      <dgm:spPr/>
    </dgm:pt>
    <dgm:pt modelId="{9E5DBD94-9377-4A0F-8D46-8C12B6E2338A}" type="pres">
      <dgm:prSet presAssocID="{7A2565BE-96D1-42AB-A908-79CE7F1BF32C}" presName="adorn" presStyleLbl="fgAccFollowNode1" presStyleIdx="2" presStyleCnt="4" custScaleX="88317" custScaleY="81116" custLinFactNeighborX="34589" custLinFactNeighborY="749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</dgm:pt>
    <dgm:pt modelId="{E6945FC2-3C53-4995-81F8-51F7B8D2B0BC}" type="pres">
      <dgm:prSet presAssocID="{6FF9B3C8-F5B4-46D2-A447-9C9321778CD7}" presName="sibTrans" presStyleLbl="sibTrans2D1" presStyleIdx="0" presStyleCnt="0"/>
      <dgm:spPr/>
    </dgm:pt>
    <dgm:pt modelId="{B6454A2C-766F-47D7-95AA-7CA2D35BCA42}" type="pres">
      <dgm:prSet presAssocID="{16BFE5E3-A18F-4ADC-8B44-3F2DAC9FDBC2}" presName="compNode" presStyleCnt="0"/>
      <dgm:spPr/>
    </dgm:pt>
    <dgm:pt modelId="{8CD11161-07CA-46EB-8865-FEEC17A0417E}" type="pres">
      <dgm:prSet presAssocID="{16BFE5E3-A18F-4ADC-8B44-3F2DAC9FDBC2}" presName="childRect" presStyleLbl="bgAcc1" presStyleIdx="3" presStyleCnt="4" custScaleX="244682" custLinFactX="-100000" custLinFactNeighborX="-143452" custLinFactNeighborY="9550">
        <dgm:presLayoutVars>
          <dgm:bulletEnabled val="1"/>
        </dgm:presLayoutVars>
      </dgm:prSet>
      <dgm:spPr/>
    </dgm:pt>
    <dgm:pt modelId="{5E907B36-BC3C-4588-A493-8E17D50A5FB0}" type="pres">
      <dgm:prSet presAssocID="{16BFE5E3-A18F-4ADC-8B44-3F2DAC9FDBC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2A59FA3-8A05-43F2-8E80-DEC949D035D4}" type="pres">
      <dgm:prSet presAssocID="{16BFE5E3-A18F-4ADC-8B44-3F2DAC9FDBC2}" presName="parentRect" presStyleLbl="alignNode1" presStyleIdx="3" presStyleCnt="4" custScaleX="185807" custLinFactNeighborX="-10447" custLinFactNeighborY="25296"/>
      <dgm:spPr/>
    </dgm:pt>
    <dgm:pt modelId="{E74DDFA6-241B-4ABE-99F2-5EB0E0489676}" type="pres">
      <dgm:prSet presAssocID="{16BFE5E3-A18F-4ADC-8B44-3F2DAC9FDBC2}" presName="adorn" presStyleLbl="fgAccFollowNode1" presStyleIdx="3" presStyleCnt="4" custLinFactNeighborX="53477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</dgm:ptLst>
  <dgm:cxnLst>
    <dgm:cxn modelId="{7F2AFD06-EEC7-48D3-B59F-C72EF86F9EEC}" type="presOf" srcId="{6FF9B3C8-F5B4-46D2-A447-9C9321778CD7}" destId="{E6945FC2-3C53-4995-81F8-51F7B8D2B0BC}" srcOrd="0" destOrd="0" presId="urn:microsoft.com/office/officeart/2005/8/layout/bList2"/>
    <dgm:cxn modelId="{9E9E2C15-8263-4D7A-B851-95300AC580E6}" type="presOf" srcId="{A3C6BCE0-6CFB-4561-AE7D-769662B9A028}" destId="{C42D40B0-E31C-4DE8-BA92-BC96546B3950}" srcOrd="0" destOrd="0" presId="urn:microsoft.com/office/officeart/2005/8/layout/bList2"/>
    <dgm:cxn modelId="{01DA732A-04B4-4BD2-B873-D4E1F0060918}" srcId="{9154C4D4-0EB2-484C-AB53-F9237B02EF68}" destId="{A3C6BCE0-6CFB-4561-AE7D-769662B9A028}" srcOrd="0" destOrd="0" parTransId="{3A15E424-06BE-47B2-80E4-0D9F740B58DB}" sibTransId="{B52F1A52-0287-42DD-AD63-BF2F9FD8DD8C}"/>
    <dgm:cxn modelId="{F48D892B-FC45-4468-BF0F-5675CA204F4A}" type="presOf" srcId="{DDF956D4-EFFD-48C1-94D6-E49D16C5772E}" destId="{8CD11161-07CA-46EB-8865-FEEC17A0417E}" srcOrd="0" destOrd="0" presId="urn:microsoft.com/office/officeart/2005/8/layout/bList2"/>
    <dgm:cxn modelId="{DB704E34-63BB-4031-AFFF-9A500D1C915F}" srcId="{9154C4D4-0EB2-484C-AB53-F9237B02EF68}" destId="{AE354A1B-3462-49E2-B6DD-6E89775C4C07}" srcOrd="1" destOrd="0" parTransId="{2EB51707-7E65-4621-9053-A0D8BE0EF949}" sibTransId="{9C924B0C-143E-4E43-A276-E848366EBB1B}"/>
    <dgm:cxn modelId="{08A36C3E-B090-4DF1-85AE-A286C377728D}" type="presOf" srcId="{7A2565BE-96D1-42AB-A908-79CE7F1BF32C}" destId="{6BDCAB8C-6058-4531-9E02-0A6A971F4A22}" srcOrd="0" destOrd="0" presId="urn:microsoft.com/office/officeart/2005/8/layout/bList2"/>
    <dgm:cxn modelId="{D558765B-DD90-41FD-AA1C-C34C851506A8}" type="presOf" srcId="{1D134814-D9C8-46C8-A453-DF3D099744F8}" destId="{2A4C9BA0-D7AF-4367-8C8A-971B161A191A}" srcOrd="0" destOrd="0" presId="urn:microsoft.com/office/officeart/2005/8/layout/bList2"/>
    <dgm:cxn modelId="{AD3E3A41-E200-44EA-A3EA-0D2BB2D2D0D3}" type="presOf" srcId="{A3C6BCE0-6CFB-4561-AE7D-769662B9A028}" destId="{36AD13DF-F479-40B6-941A-700BBB979533}" srcOrd="1" destOrd="0" presId="urn:microsoft.com/office/officeart/2005/8/layout/bList2"/>
    <dgm:cxn modelId="{3DB3F442-A386-404F-9B68-54DA46EAF377}" type="presOf" srcId="{9C924B0C-143E-4E43-A276-E848366EBB1B}" destId="{C2CEEAE6-7B83-4135-B928-8C1D06E5CB66}" srcOrd="0" destOrd="0" presId="urn:microsoft.com/office/officeart/2005/8/layout/bList2"/>
    <dgm:cxn modelId="{1BC9D044-C2C5-450F-853E-0CE861187522}" type="presOf" srcId="{16BFE5E3-A18F-4ADC-8B44-3F2DAC9FDBC2}" destId="{5E907B36-BC3C-4588-A493-8E17D50A5FB0}" srcOrd="0" destOrd="0" presId="urn:microsoft.com/office/officeart/2005/8/layout/bList2"/>
    <dgm:cxn modelId="{C76BDD45-A051-4501-85E8-5EAAAEC600B9}" srcId="{A3C6BCE0-6CFB-4561-AE7D-769662B9A028}" destId="{87A9D8EE-7716-476B-99C2-177DD1C371C2}" srcOrd="0" destOrd="0" parTransId="{FAC566CC-F4D4-4E35-8D66-B01F82E8D59C}" sibTransId="{6F939677-8786-4AE2-83BA-E2EC21EBAA28}"/>
    <dgm:cxn modelId="{15A82972-3112-47DA-BD54-8A1CD043AAA2}" srcId="{AE354A1B-3462-49E2-B6DD-6E89775C4C07}" destId="{1D134814-D9C8-46C8-A453-DF3D099744F8}" srcOrd="0" destOrd="0" parTransId="{0C8D8A3E-D303-4F87-8D30-EE0875847BDA}" sibTransId="{6B5ADC2C-B2D1-4F1C-929F-2D7F91CFC82E}"/>
    <dgm:cxn modelId="{F0D8DE75-4F23-444B-A7A2-3C17B8A06FEA}" type="presOf" srcId="{AE354A1B-3462-49E2-B6DD-6E89775C4C07}" destId="{CD47DF38-DB16-4608-A62A-6BB622C3D8C1}" srcOrd="1" destOrd="0" presId="urn:microsoft.com/office/officeart/2005/8/layout/bList2"/>
    <dgm:cxn modelId="{1E89478B-9BB9-42E8-9963-6DAEFFB4DD19}" type="presOf" srcId="{B52F1A52-0287-42DD-AD63-BF2F9FD8DD8C}" destId="{9E0C29EE-508D-4076-818A-C4860B15FA1C}" srcOrd="0" destOrd="0" presId="urn:microsoft.com/office/officeart/2005/8/layout/bList2"/>
    <dgm:cxn modelId="{26ABCC91-C110-4A38-B402-FFEE38748E72}" type="presOf" srcId="{16BFE5E3-A18F-4ADC-8B44-3F2DAC9FDBC2}" destId="{82A59FA3-8A05-43F2-8E80-DEC949D035D4}" srcOrd="1" destOrd="0" presId="urn:microsoft.com/office/officeart/2005/8/layout/bList2"/>
    <dgm:cxn modelId="{3CB3D899-6A9E-4E66-8046-C7B692FD3E5C}" srcId="{9154C4D4-0EB2-484C-AB53-F9237B02EF68}" destId="{16BFE5E3-A18F-4ADC-8B44-3F2DAC9FDBC2}" srcOrd="3" destOrd="0" parTransId="{75E0DCB5-78D0-4F5B-A7B4-3B49F8E5EB69}" sibTransId="{DCF2EEC6-E374-4CC3-A676-DA57CD666DAA}"/>
    <dgm:cxn modelId="{315E4D9A-E9F5-4FEB-8F24-FCB5666B722D}" type="presOf" srcId="{7A2565BE-96D1-42AB-A908-79CE7F1BF32C}" destId="{4143BE55-355E-4C46-8670-9CC8FC6667BF}" srcOrd="1" destOrd="0" presId="urn:microsoft.com/office/officeart/2005/8/layout/bList2"/>
    <dgm:cxn modelId="{98AC66A4-1C7E-4D2C-9543-4C56AA404858}" srcId="{9154C4D4-0EB2-484C-AB53-F9237B02EF68}" destId="{7A2565BE-96D1-42AB-A908-79CE7F1BF32C}" srcOrd="2" destOrd="0" parTransId="{3A0FD2F2-A384-4F11-B010-7922FDF08176}" sibTransId="{6FF9B3C8-F5B4-46D2-A447-9C9321778CD7}"/>
    <dgm:cxn modelId="{64D49AAE-8A4F-4FEE-84D6-26039AAF9619}" type="presOf" srcId="{AE354A1B-3462-49E2-B6DD-6E89775C4C07}" destId="{3FD8F0F7-E4BD-4B01-B972-B0D575068A09}" srcOrd="0" destOrd="0" presId="urn:microsoft.com/office/officeart/2005/8/layout/bList2"/>
    <dgm:cxn modelId="{FA009EAE-C63B-4EBD-883A-8AC9879CB4BD}" srcId="{7A2565BE-96D1-42AB-A908-79CE7F1BF32C}" destId="{68B69559-940A-4F7C-9934-CFC1ACBE6C3A}" srcOrd="0" destOrd="0" parTransId="{8339D150-0FFD-4B59-A031-A50A17A2F6C7}" sibTransId="{57269920-EE0B-40BF-998E-06B3DF65969B}"/>
    <dgm:cxn modelId="{AAE2B3CF-601B-475F-BE73-F49A5A083526}" srcId="{16BFE5E3-A18F-4ADC-8B44-3F2DAC9FDBC2}" destId="{DDF956D4-EFFD-48C1-94D6-E49D16C5772E}" srcOrd="0" destOrd="0" parTransId="{5D69903E-8505-48CB-9D62-6DFCAA8C78CC}" sibTransId="{4E8C0646-2E08-4AFC-B48D-0584E3496FCE}"/>
    <dgm:cxn modelId="{4A0DEED4-FF7E-4105-A2B3-1CE78635B3DD}" type="presOf" srcId="{9154C4D4-0EB2-484C-AB53-F9237B02EF68}" destId="{1312A641-0DE3-4FB0-886A-3C7B770ED147}" srcOrd="0" destOrd="0" presId="urn:microsoft.com/office/officeart/2005/8/layout/bList2"/>
    <dgm:cxn modelId="{CDE4A4F5-87F3-41FC-9ED7-A09C3B5F6289}" type="presOf" srcId="{68B69559-940A-4F7C-9934-CFC1ACBE6C3A}" destId="{D850D026-7828-4883-9003-36FC71F6F558}" srcOrd="0" destOrd="0" presId="urn:microsoft.com/office/officeart/2005/8/layout/bList2"/>
    <dgm:cxn modelId="{57FA95F8-9087-41D5-B0EC-C374CD8A2E48}" type="presOf" srcId="{87A9D8EE-7716-476B-99C2-177DD1C371C2}" destId="{C5C12044-0A9C-454F-ACF7-532C29D16FA8}" srcOrd="0" destOrd="0" presId="urn:microsoft.com/office/officeart/2005/8/layout/bList2"/>
    <dgm:cxn modelId="{07715149-0CDD-425E-B722-178C0381FBEA}" type="presParOf" srcId="{1312A641-0DE3-4FB0-886A-3C7B770ED147}" destId="{CF465A1B-E530-426B-BB1F-8F66F94448E3}" srcOrd="0" destOrd="0" presId="urn:microsoft.com/office/officeart/2005/8/layout/bList2"/>
    <dgm:cxn modelId="{6AE21A3E-DE4C-43BD-8FF5-8264EE4280EF}" type="presParOf" srcId="{CF465A1B-E530-426B-BB1F-8F66F94448E3}" destId="{C5C12044-0A9C-454F-ACF7-532C29D16FA8}" srcOrd="0" destOrd="0" presId="urn:microsoft.com/office/officeart/2005/8/layout/bList2"/>
    <dgm:cxn modelId="{C2817E04-8683-4AD0-8B1F-8834BFD9FB9B}" type="presParOf" srcId="{CF465A1B-E530-426B-BB1F-8F66F94448E3}" destId="{C42D40B0-E31C-4DE8-BA92-BC96546B3950}" srcOrd="1" destOrd="0" presId="urn:microsoft.com/office/officeart/2005/8/layout/bList2"/>
    <dgm:cxn modelId="{BB551DDF-CF8A-4C82-99B2-730757F0C0F3}" type="presParOf" srcId="{CF465A1B-E530-426B-BB1F-8F66F94448E3}" destId="{36AD13DF-F479-40B6-941A-700BBB979533}" srcOrd="2" destOrd="0" presId="urn:microsoft.com/office/officeart/2005/8/layout/bList2"/>
    <dgm:cxn modelId="{E44C4293-D4D4-475A-9F0E-E7444EE6C975}" type="presParOf" srcId="{CF465A1B-E530-426B-BB1F-8F66F94448E3}" destId="{C9C4880D-31F2-4181-9248-CAFEB9794961}" srcOrd="3" destOrd="0" presId="urn:microsoft.com/office/officeart/2005/8/layout/bList2"/>
    <dgm:cxn modelId="{9EFFDAA7-49CD-45F6-B6F1-91AD9BAC1B49}" type="presParOf" srcId="{1312A641-0DE3-4FB0-886A-3C7B770ED147}" destId="{9E0C29EE-508D-4076-818A-C4860B15FA1C}" srcOrd="1" destOrd="0" presId="urn:microsoft.com/office/officeart/2005/8/layout/bList2"/>
    <dgm:cxn modelId="{A308AF16-B9F4-4B3A-932E-948CE03C8547}" type="presParOf" srcId="{1312A641-0DE3-4FB0-886A-3C7B770ED147}" destId="{2D231EF3-3499-414D-A982-8BBA5CD34780}" srcOrd="2" destOrd="0" presId="urn:microsoft.com/office/officeart/2005/8/layout/bList2"/>
    <dgm:cxn modelId="{55CB8F28-A4A5-488D-9100-2D8957F02A54}" type="presParOf" srcId="{2D231EF3-3499-414D-A982-8BBA5CD34780}" destId="{2A4C9BA0-D7AF-4367-8C8A-971B161A191A}" srcOrd="0" destOrd="0" presId="urn:microsoft.com/office/officeart/2005/8/layout/bList2"/>
    <dgm:cxn modelId="{A47D1054-BDA6-42A5-815E-41B841E2DA8E}" type="presParOf" srcId="{2D231EF3-3499-414D-A982-8BBA5CD34780}" destId="{3FD8F0F7-E4BD-4B01-B972-B0D575068A09}" srcOrd="1" destOrd="0" presId="urn:microsoft.com/office/officeart/2005/8/layout/bList2"/>
    <dgm:cxn modelId="{7BB10013-4CA8-4CA7-8749-69AFAC44D42D}" type="presParOf" srcId="{2D231EF3-3499-414D-A982-8BBA5CD34780}" destId="{CD47DF38-DB16-4608-A62A-6BB622C3D8C1}" srcOrd="2" destOrd="0" presId="urn:microsoft.com/office/officeart/2005/8/layout/bList2"/>
    <dgm:cxn modelId="{C668BABC-5667-4376-88FE-3FC66F2B896D}" type="presParOf" srcId="{2D231EF3-3499-414D-A982-8BBA5CD34780}" destId="{770F0D45-2697-4766-8A9B-BBCE6D4C1971}" srcOrd="3" destOrd="0" presId="urn:microsoft.com/office/officeart/2005/8/layout/bList2"/>
    <dgm:cxn modelId="{5D535682-7530-49DB-AE1C-8461F23A1299}" type="presParOf" srcId="{1312A641-0DE3-4FB0-886A-3C7B770ED147}" destId="{C2CEEAE6-7B83-4135-B928-8C1D06E5CB66}" srcOrd="3" destOrd="0" presId="urn:microsoft.com/office/officeart/2005/8/layout/bList2"/>
    <dgm:cxn modelId="{7BDE02FA-5CD7-4DD1-82A6-DF6E02D34DC2}" type="presParOf" srcId="{1312A641-0DE3-4FB0-886A-3C7B770ED147}" destId="{77664CB5-B2D9-4334-95D9-61C1C9A5BF98}" srcOrd="4" destOrd="0" presId="urn:microsoft.com/office/officeart/2005/8/layout/bList2"/>
    <dgm:cxn modelId="{27E21086-26FE-46F6-9399-996D0E4DBA78}" type="presParOf" srcId="{77664CB5-B2D9-4334-95D9-61C1C9A5BF98}" destId="{D850D026-7828-4883-9003-36FC71F6F558}" srcOrd="0" destOrd="0" presId="urn:microsoft.com/office/officeart/2005/8/layout/bList2"/>
    <dgm:cxn modelId="{C9F0AFE4-DCAC-4F29-9663-2393518E5FD3}" type="presParOf" srcId="{77664CB5-B2D9-4334-95D9-61C1C9A5BF98}" destId="{6BDCAB8C-6058-4531-9E02-0A6A971F4A22}" srcOrd="1" destOrd="0" presId="urn:microsoft.com/office/officeart/2005/8/layout/bList2"/>
    <dgm:cxn modelId="{A73E5F3E-98DC-4CB9-B995-1BA297EE0F65}" type="presParOf" srcId="{77664CB5-B2D9-4334-95D9-61C1C9A5BF98}" destId="{4143BE55-355E-4C46-8670-9CC8FC6667BF}" srcOrd="2" destOrd="0" presId="urn:microsoft.com/office/officeart/2005/8/layout/bList2"/>
    <dgm:cxn modelId="{C8455992-0F2F-43BB-94E7-946DE09F6C8E}" type="presParOf" srcId="{77664CB5-B2D9-4334-95D9-61C1C9A5BF98}" destId="{9E5DBD94-9377-4A0F-8D46-8C12B6E2338A}" srcOrd="3" destOrd="0" presId="urn:microsoft.com/office/officeart/2005/8/layout/bList2"/>
    <dgm:cxn modelId="{C751B160-EEBC-498B-82A4-845EB6CBAA2F}" type="presParOf" srcId="{1312A641-0DE3-4FB0-886A-3C7B770ED147}" destId="{E6945FC2-3C53-4995-81F8-51F7B8D2B0BC}" srcOrd="5" destOrd="0" presId="urn:microsoft.com/office/officeart/2005/8/layout/bList2"/>
    <dgm:cxn modelId="{F5245A55-6A97-4FFD-8EDF-5FDA8CE19471}" type="presParOf" srcId="{1312A641-0DE3-4FB0-886A-3C7B770ED147}" destId="{B6454A2C-766F-47D7-95AA-7CA2D35BCA42}" srcOrd="6" destOrd="0" presId="urn:microsoft.com/office/officeart/2005/8/layout/bList2"/>
    <dgm:cxn modelId="{7D5D1CDC-0E27-4346-9420-0B7169CD2A05}" type="presParOf" srcId="{B6454A2C-766F-47D7-95AA-7CA2D35BCA42}" destId="{8CD11161-07CA-46EB-8865-FEEC17A0417E}" srcOrd="0" destOrd="0" presId="urn:microsoft.com/office/officeart/2005/8/layout/bList2"/>
    <dgm:cxn modelId="{D87EBC1D-561A-4464-AC64-96EF32455C38}" type="presParOf" srcId="{B6454A2C-766F-47D7-95AA-7CA2D35BCA42}" destId="{5E907B36-BC3C-4588-A493-8E17D50A5FB0}" srcOrd="1" destOrd="0" presId="urn:microsoft.com/office/officeart/2005/8/layout/bList2"/>
    <dgm:cxn modelId="{85F33CBE-8D2B-4050-875D-4D671AD0EF3F}" type="presParOf" srcId="{B6454A2C-766F-47D7-95AA-7CA2D35BCA42}" destId="{82A59FA3-8A05-43F2-8E80-DEC949D035D4}" srcOrd="2" destOrd="0" presId="urn:microsoft.com/office/officeart/2005/8/layout/bList2"/>
    <dgm:cxn modelId="{51429895-B268-45EB-92E0-39A111C5CE43}" type="presParOf" srcId="{B6454A2C-766F-47D7-95AA-7CA2D35BCA42}" destId="{E74DDFA6-241B-4ABE-99F2-5EB0E0489676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54C4D4-0EB2-484C-AB53-F9237B02EF68}" type="doc">
      <dgm:prSet loTypeId="urn:microsoft.com/office/officeart/2005/8/layout/bList2" loCatId="picture" qsTypeId="urn:microsoft.com/office/officeart/2005/8/quickstyle/simple1" qsCatId="simple" csTypeId="urn:microsoft.com/office/officeart/2005/8/colors/accent1_2" csCatId="accent1" phldr="1"/>
      <dgm:spPr/>
    </dgm:pt>
    <dgm:pt modelId="{A3C6BCE0-6CFB-4561-AE7D-769662B9A028}">
      <dgm:prSet phldrT="[Texto]"/>
      <dgm:spPr/>
      <dgm:t>
        <a:bodyPr/>
        <a:lstStyle/>
        <a:p>
          <a:r>
            <a:rPr lang="pt-BR" b="1" dirty="0"/>
            <a:t>HISTÓRICO LÓGICO </a:t>
          </a:r>
          <a:endParaRPr lang="pt-AO" sz="2000" b="1" dirty="0"/>
        </a:p>
      </dgm:t>
    </dgm:pt>
    <dgm:pt modelId="{3A15E424-06BE-47B2-80E4-0D9F740B58DB}" type="parTrans" cxnId="{01DA732A-04B4-4BD2-B873-D4E1F0060918}">
      <dgm:prSet/>
      <dgm:spPr/>
      <dgm:t>
        <a:bodyPr/>
        <a:lstStyle/>
        <a:p>
          <a:endParaRPr lang="pt-AO"/>
        </a:p>
      </dgm:t>
    </dgm:pt>
    <dgm:pt modelId="{B52F1A52-0287-42DD-AD63-BF2F9FD8DD8C}" type="sibTrans" cxnId="{01DA732A-04B4-4BD2-B873-D4E1F0060918}">
      <dgm:prSet/>
      <dgm:spPr/>
      <dgm:t>
        <a:bodyPr/>
        <a:lstStyle/>
        <a:p>
          <a:endParaRPr lang="pt-AO"/>
        </a:p>
      </dgm:t>
    </dgm:pt>
    <dgm:pt modelId="{AE354A1B-3462-49E2-B6DD-6E89775C4C07}">
      <dgm:prSet phldrT="[Texto]" custT="1"/>
      <dgm:spPr/>
      <dgm:t>
        <a:bodyPr/>
        <a:lstStyle/>
        <a:p>
          <a:pPr algn="ctr"/>
          <a:r>
            <a:rPr lang="pt-BR" sz="2000" b="1" dirty="0"/>
            <a:t>ANÁLISE DOCUMENTAL</a:t>
          </a:r>
          <a:endParaRPr lang="pt-AO" sz="2000" b="1" dirty="0"/>
        </a:p>
      </dgm:t>
    </dgm:pt>
    <dgm:pt modelId="{2EB51707-7E65-4621-9053-A0D8BE0EF949}" type="parTrans" cxnId="{DB704E34-63BB-4031-AFFF-9A500D1C915F}">
      <dgm:prSet/>
      <dgm:spPr/>
      <dgm:t>
        <a:bodyPr/>
        <a:lstStyle/>
        <a:p>
          <a:endParaRPr lang="pt-AO"/>
        </a:p>
      </dgm:t>
    </dgm:pt>
    <dgm:pt modelId="{9C924B0C-143E-4E43-A276-E848366EBB1B}" type="sibTrans" cxnId="{DB704E34-63BB-4031-AFFF-9A500D1C915F}">
      <dgm:prSet/>
      <dgm:spPr/>
      <dgm:t>
        <a:bodyPr/>
        <a:lstStyle/>
        <a:p>
          <a:endParaRPr lang="pt-AO"/>
        </a:p>
      </dgm:t>
    </dgm:pt>
    <dgm:pt modelId="{87A9D8EE-7716-476B-99C2-177DD1C371C2}">
      <dgm:prSet custT="1"/>
      <dgm:spPr/>
      <dgm:t>
        <a:bodyPr/>
        <a:lstStyle/>
        <a:p>
          <a:r>
            <a:rPr lang="pt-PT" sz="1200" dirty="0"/>
            <a:t>Será realizado um levantamento teórico sobre a evolução dos sistemas de controle de acesso e presença, com ênfase em tecnologias biométricas e reconhecimento facial, permitindo compreender como esses recursos vêm sendo utilizados em ambientes educacionais e como se justifica a sua aplicação no ISP-BIÉ</a:t>
          </a:r>
          <a:endParaRPr lang="pt-AO" sz="1200" dirty="0"/>
        </a:p>
      </dgm:t>
    </dgm:pt>
    <dgm:pt modelId="{FAC566CC-F4D4-4E35-8D66-B01F82E8D59C}" type="parTrans" cxnId="{C76BDD45-A051-4501-85E8-5EAAAEC600B9}">
      <dgm:prSet/>
      <dgm:spPr/>
      <dgm:t>
        <a:bodyPr/>
        <a:lstStyle/>
        <a:p>
          <a:endParaRPr lang="pt-AO"/>
        </a:p>
      </dgm:t>
    </dgm:pt>
    <dgm:pt modelId="{6F939677-8786-4AE2-83BA-E2EC21EBAA28}" type="sibTrans" cxnId="{C76BDD45-A051-4501-85E8-5EAAAEC600B9}">
      <dgm:prSet/>
      <dgm:spPr/>
      <dgm:t>
        <a:bodyPr/>
        <a:lstStyle/>
        <a:p>
          <a:endParaRPr lang="pt-AO"/>
        </a:p>
      </dgm:t>
    </dgm:pt>
    <dgm:pt modelId="{1D134814-D9C8-46C8-A453-DF3D099744F8}">
      <dgm:prSet custT="1"/>
      <dgm:spPr/>
      <dgm:t>
        <a:bodyPr/>
        <a:lstStyle/>
        <a:p>
          <a:r>
            <a:rPr lang="pt-PT" sz="1200" dirty="0"/>
            <a:t>Serão analisados documentos institucionais como regulamentos internos, relatórios de frequência, normas de assiduidade e procedimentos administrativos, com o intuito de entender as exigências formais da gestão acadêmica e garantir que o sistema proposto esteja alinhado às práticas e regras vigentes na instituição</a:t>
          </a:r>
          <a:endParaRPr lang="pt-AO" sz="1200" dirty="0"/>
        </a:p>
      </dgm:t>
    </dgm:pt>
    <dgm:pt modelId="{0C8D8A3E-D303-4F87-8D30-EE0875847BDA}" type="parTrans" cxnId="{15A82972-3112-47DA-BD54-8A1CD043AAA2}">
      <dgm:prSet/>
      <dgm:spPr/>
      <dgm:t>
        <a:bodyPr/>
        <a:lstStyle/>
        <a:p>
          <a:endParaRPr lang="pt-AO"/>
        </a:p>
      </dgm:t>
    </dgm:pt>
    <dgm:pt modelId="{6B5ADC2C-B2D1-4F1C-929F-2D7F91CFC82E}" type="sibTrans" cxnId="{15A82972-3112-47DA-BD54-8A1CD043AAA2}">
      <dgm:prSet/>
      <dgm:spPr/>
      <dgm:t>
        <a:bodyPr/>
        <a:lstStyle/>
        <a:p>
          <a:endParaRPr lang="pt-AO"/>
        </a:p>
      </dgm:t>
    </dgm:pt>
    <dgm:pt modelId="{1312A641-0DE3-4FB0-886A-3C7B770ED147}" type="pres">
      <dgm:prSet presAssocID="{9154C4D4-0EB2-484C-AB53-F9237B02EF68}" presName="diagram" presStyleCnt="0">
        <dgm:presLayoutVars>
          <dgm:dir/>
          <dgm:animLvl val="lvl"/>
          <dgm:resizeHandles val="exact"/>
        </dgm:presLayoutVars>
      </dgm:prSet>
      <dgm:spPr/>
    </dgm:pt>
    <dgm:pt modelId="{CF465A1B-E530-426B-BB1F-8F66F94448E3}" type="pres">
      <dgm:prSet presAssocID="{A3C6BCE0-6CFB-4561-AE7D-769662B9A028}" presName="compNode" presStyleCnt="0"/>
      <dgm:spPr/>
    </dgm:pt>
    <dgm:pt modelId="{C5C12044-0A9C-454F-ACF7-532C29D16FA8}" type="pres">
      <dgm:prSet presAssocID="{A3C6BCE0-6CFB-4561-AE7D-769662B9A028}" presName="childRect" presStyleLbl="bgAcc1" presStyleIdx="0" presStyleCnt="2" custScaleX="240144" custLinFactNeighborX="-12398" custLinFactNeighborY="2819">
        <dgm:presLayoutVars>
          <dgm:bulletEnabled val="1"/>
        </dgm:presLayoutVars>
      </dgm:prSet>
      <dgm:spPr/>
    </dgm:pt>
    <dgm:pt modelId="{C42D40B0-E31C-4DE8-BA92-BC96546B3950}" type="pres">
      <dgm:prSet presAssocID="{A3C6BCE0-6CFB-4561-AE7D-769662B9A02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6AD13DF-F479-40B6-941A-700BBB979533}" type="pres">
      <dgm:prSet presAssocID="{A3C6BCE0-6CFB-4561-AE7D-769662B9A028}" presName="parentRect" presStyleLbl="alignNode1" presStyleIdx="0" presStyleCnt="2" custScaleX="195076" custLinFactNeighborX="-32243" custLinFactNeighborY="10393"/>
      <dgm:spPr/>
    </dgm:pt>
    <dgm:pt modelId="{C9C4880D-31F2-4181-9248-CAFEB9794961}" type="pres">
      <dgm:prSet presAssocID="{A3C6BCE0-6CFB-4561-AE7D-769662B9A028}" presName="adorn" presStyleLbl="fgAccFollowNode1" presStyleIdx="0" presStyleCnt="2" custScaleX="87846" custScaleY="86331" custLinFactNeighborX="-25411" custLinFactNeighborY="-794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</dgm:spPr>
    </dgm:pt>
    <dgm:pt modelId="{9E0C29EE-508D-4076-818A-C4860B15FA1C}" type="pres">
      <dgm:prSet presAssocID="{B52F1A52-0287-42DD-AD63-BF2F9FD8DD8C}" presName="sibTrans" presStyleLbl="sibTrans2D1" presStyleIdx="0" presStyleCnt="0"/>
      <dgm:spPr/>
    </dgm:pt>
    <dgm:pt modelId="{2D231EF3-3499-414D-A982-8BBA5CD34780}" type="pres">
      <dgm:prSet presAssocID="{AE354A1B-3462-49E2-B6DD-6E89775C4C07}" presName="compNode" presStyleCnt="0"/>
      <dgm:spPr/>
    </dgm:pt>
    <dgm:pt modelId="{2A4C9BA0-D7AF-4367-8C8A-971B161A191A}" type="pres">
      <dgm:prSet presAssocID="{AE354A1B-3462-49E2-B6DD-6E89775C4C07}" presName="childRect" presStyleLbl="bgAcc1" presStyleIdx="1" presStyleCnt="2" custScaleX="229426" custLinFactNeighborX="-1961" custLinFactNeighborY="-610">
        <dgm:presLayoutVars>
          <dgm:bulletEnabled val="1"/>
        </dgm:presLayoutVars>
      </dgm:prSet>
      <dgm:spPr/>
    </dgm:pt>
    <dgm:pt modelId="{3FD8F0F7-E4BD-4B01-B972-B0D575068A09}" type="pres">
      <dgm:prSet presAssocID="{AE354A1B-3462-49E2-B6DD-6E89775C4C0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D47DF38-DB16-4608-A62A-6BB622C3D8C1}" type="pres">
      <dgm:prSet presAssocID="{AE354A1B-3462-49E2-B6DD-6E89775C4C07}" presName="parentRect" presStyleLbl="alignNode1" presStyleIdx="1" presStyleCnt="2" custScaleX="187991" custLinFactNeighborX="-20311" custLinFactNeighborY="8643"/>
      <dgm:spPr/>
    </dgm:pt>
    <dgm:pt modelId="{770F0D45-2697-4766-8A9B-BBCE6D4C1971}" type="pres">
      <dgm:prSet presAssocID="{AE354A1B-3462-49E2-B6DD-6E89775C4C07}" presName="adorn" presStyleLbl="fgAccFollowNode1" presStyleIdx="1" presStyleCnt="2" custScaleX="87835" custScaleY="76712" custLinFactNeighborY="-983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</dgm:ptLst>
  <dgm:cxnLst>
    <dgm:cxn modelId="{9E9E2C15-8263-4D7A-B851-95300AC580E6}" type="presOf" srcId="{A3C6BCE0-6CFB-4561-AE7D-769662B9A028}" destId="{C42D40B0-E31C-4DE8-BA92-BC96546B3950}" srcOrd="0" destOrd="0" presId="urn:microsoft.com/office/officeart/2005/8/layout/bList2"/>
    <dgm:cxn modelId="{01DA732A-04B4-4BD2-B873-D4E1F0060918}" srcId="{9154C4D4-0EB2-484C-AB53-F9237B02EF68}" destId="{A3C6BCE0-6CFB-4561-AE7D-769662B9A028}" srcOrd="0" destOrd="0" parTransId="{3A15E424-06BE-47B2-80E4-0D9F740B58DB}" sibTransId="{B52F1A52-0287-42DD-AD63-BF2F9FD8DD8C}"/>
    <dgm:cxn modelId="{DB704E34-63BB-4031-AFFF-9A500D1C915F}" srcId="{9154C4D4-0EB2-484C-AB53-F9237B02EF68}" destId="{AE354A1B-3462-49E2-B6DD-6E89775C4C07}" srcOrd="1" destOrd="0" parTransId="{2EB51707-7E65-4621-9053-A0D8BE0EF949}" sibTransId="{9C924B0C-143E-4E43-A276-E848366EBB1B}"/>
    <dgm:cxn modelId="{D558765B-DD90-41FD-AA1C-C34C851506A8}" type="presOf" srcId="{1D134814-D9C8-46C8-A453-DF3D099744F8}" destId="{2A4C9BA0-D7AF-4367-8C8A-971B161A191A}" srcOrd="0" destOrd="0" presId="urn:microsoft.com/office/officeart/2005/8/layout/bList2"/>
    <dgm:cxn modelId="{AD3E3A41-E200-44EA-A3EA-0D2BB2D2D0D3}" type="presOf" srcId="{A3C6BCE0-6CFB-4561-AE7D-769662B9A028}" destId="{36AD13DF-F479-40B6-941A-700BBB979533}" srcOrd="1" destOrd="0" presId="urn:microsoft.com/office/officeart/2005/8/layout/bList2"/>
    <dgm:cxn modelId="{C76BDD45-A051-4501-85E8-5EAAAEC600B9}" srcId="{A3C6BCE0-6CFB-4561-AE7D-769662B9A028}" destId="{87A9D8EE-7716-476B-99C2-177DD1C371C2}" srcOrd="0" destOrd="0" parTransId="{FAC566CC-F4D4-4E35-8D66-B01F82E8D59C}" sibTransId="{6F939677-8786-4AE2-83BA-E2EC21EBAA28}"/>
    <dgm:cxn modelId="{15A82972-3112-47DA-BD54-8A1CD043AAA2}" srcId="{AE354A1B-3462-49E2-B6DD-6E89775C4C07}" destId="{1D134814-D9C8-46C8-A453-DF3D099744F8}" srcOrd="0" destOrd="0" parTransId="{0C8D8A3E-D303-4F87-8D30-EE0875847BDA}" sibTransId="{6B5ADC2C-B2D1-4F1C-929F-2D7F91CFC82E}"/>
    <dgm:cxn modelId="{F0D8DE75-4F23-444B-A7A2-3C17B8A06FEA}" type="presOf" srcId="{AE354A1B-3462-49E2-B6DD-6E89775C4C07}" destId="{CD47DF38-DB16-4608-A62A-6BB622C3D8C1}" srcOrd="1" destOrd="0" presId="urn:microsoft.com/office/officeart/2005/8/layout/bList2"/>
    <dgm:cxn modelId="{1E89478B-9BB9-42E8-9963-6DAEFFB4DD19}" type="presOf" srcId="{B52F1A52-0287-42DD-AD63-BF2F9FD8DD8C}" destId="{9E0C29EE-508D-4076-818A-C4860B15FA1C}" srcOrd="0" destOrd="0" presId="urn:microsoft.com/office/officeart/2005/8/layout/bList2"/>
    <dgm:cxn modelId="{64D49AAE-8A4F-4FEE-84D6-26039AAF9619}" type="presOf" srcId="{AE354A1B-3462-49E2-B6DD-6E89775C4C07}" destId="{3FD8F0F7-E4BD-4B01-B972-B0D575068A09}" srcOrd="0" destOrd="0" presId="urn:microsoft.com/office/officeart/2005/8/layout/bList2"/>
    <dgm:cxn modelId="{4A0DEED4-FF7E-4105-A2B3-1CE78635B3DD}" type="presOf" srcId="{9154C4D4-0EB2-484C-AB53-F9237B02EF68}" destId="{1312A641-0DE3-4FB0-886A-3C7B770ED147}" srcOrd="0" destOrd="0" presId="urn:microsoft.com/office/officeart/2005/8/layout/bList2"/>
    <dgm:cxn modelId="{57FA95F8-9087-41D5-B0EC-C374CD8A2E48}" type="presOf" srcId="{87A9D8EE-7716-476B-99C2-177DD1C371C2}" destId="{C5C12044-0A9C-454F-ACF7-532C29D16FA8}" srcOrd="0" destOrd="0" presId="urn:microsoft.com/office/officeart/2005/8/layout/bList2"/>
    <dgm:cxn modelId="{07715149-0CDD-425E-B722-178C0381FBEA}" type="presParOf" srcId="{1312A641-0DE3-4FB0-886A-3C7B770ED147}" destId="{CF465A1B-E530-426B-BB1F-8F66F94448E3}" srcOrd="0" destOrd="0" presId="urn:microsoft.com/office/officeart/2005/8/layout/bList2"/>
    <dgm:cxn modelId="{6AE21A3E-DE4C-43BD-8FF5-8264EE4280EF}" type="presParOf" srcId="{CF465A1B-E530-426B-BB1F-8F66F94448E3}" destId="{C5C12044-0A9C-454F-ACF7-532C29D16FA8}" srcOrd="0" destOrd="0" presId="urn:microsoft.com/office/officeart/2005/8/layout/bList2"/>
    <dgm:cxn modelId="{C2817E04-8683-4AD0-8B1F-8834BFD9FB9B}" type="presParOf" srcId="{CF465A1B-E530-426B-BB1F-8F66F94448E3}" destId="{C42D40B0-E31C-4DE8-BA92-BC96546B3950}" srcOrd="1" destOrd="0" presId="urn:microsoft.com/office/officeart/2005/8/layout/bList2"/>
    <dgm:cxn modelId="{BB551DDF-CF8A-4C82-99B2-730757F0C0F3}" type="presParOf" srcId="{CF465A1B-E530-426B-BB1F-8F66F94448E3}" destId="{36AD13DF-F479-40B6-941A-700BBB979533}" srcOrd="2" destOrd="0" presId="urn:microsoft.com/office/officeart/2005/8/layout/bList2"/>
    <dgm:cxn modelId="{E44C4293-D4D4-475A-9F0E-E7444EE6C975}" type="presParOf" srcId="{CF465A1B-E530-426B-BB1F-8F66F94448E3}" destId="{C9C4880D-31F2-4181-9248-CAFEB9794961}" srcOrd="3" destOrd="0" presId="urn:microsoft.com/office/officeart/2005/8/layout/bList2"/>
    <dgm:cxn modelId="{9EFFDAA7-49CD-45F6-B6F1-91AD9BAC1B49}" type="presParOf" srcId="{1312A641-0DE3-4FB0-886A-3C7B770ED147}" destId="{9E0C29EE-508D-4076-818A-C4860B15FA1C}" srcOrd="1" destOrd="0" presId="urn:microsoft.com/office/officeart/2005/8/layout/bList2"/>
    <dgm:cxn modelId="{A308AF16-B9F4-4B3A-932E-948CE03C8547}" type="presParOf" srcId="{1312A641-0DE3-4FB0-886A-3C7B770ED147}" destId="{2D231EF3-3499-414D-A982-8BBA5CD34780}" srcOrd="2" destOrd="0" presId="urn:microsoft.com/office/officeart/2005/8/layout/bList2"/>
    <dgm:cxn modelId="{55CB8F28-A4A5-488D-9100-2D8957F02A54}" type="presParOf" srcId="{2D231EF3-3499-414D-A982-8BBA5CD34780}" destId="{2A4C9BA0-D7AF-4367-8C8A-971B161A191A}" srcOrd="0" destOrd="0" presId="urn:microsoft.com/office/officeart/2005/8/layout/bList2"/>
    <dgm:cxn modelId="{A47D1054-BDA6-42A5-815E-41B841E2DA8E}" type="presParOf" srcId="{2D231EF3-3499-414D-A982-8BBA5CD34780}" destId="{3FD8F0F7-E4BD-4B01-B972-B0D575068A09}" srcOrd="1" destOrd="0" presId="urn:microsoft.com/office/officeart/2005/8/layout/bList2"/>
    <dgm:cxn modelId="{7BB10013-4CA8-4CA7-8749-69AFAC44D42D}" type="presParOf" srcId="{2D231EF3-3499-414D-A982-8BBA5CD34780}" destId="{CD47DF38-DB16-4608-A62A-6BB622C3D8C1}" srcOrd="2" destOrd="0" presId="urn:microsoft.com/office/officeart/2005/8/layout/bList2"/>
    <dgm:cxn modelId="{C668BABC-5667-4376-88FE-3FC66F2B896D}" type="presParOf" srcId="{2D231EF3-3499-414D-A982-8BBA5CD34780}" destId="{770F0D45-2697-4766-8A9B-BBCE6D4C197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C570B-3575-4E5D-977E-AFBB5CEFC131}">
      <dsp:nvSpPr>
        <dsp:cNvPr id="0" name=""/>
        <dsp:cNvSpPr/>
      </dsp:nvSpPr>
      <dsp:spPr>
        <a:xfrm rot="5400000">
          <a:off x="2750143" y="-749557"/>
          <a:ext cx="1170965" cy="296289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/>
            <a:t>Implementação de um sistema inteligente de reconhecimento facial</a:t>
          </a:r>
          <a:endParaRPr lang="pt-AO" sz="2000" kern="1200" dirty="0"/>
        </a:p>
      </dsp:txBody>
      <dsp:txXfrm rot="-5400000">
        <a:off x="1854178" y="203570"/>
        <a:ext cx="2905733" cy="1056641"/>
      </dsp:txXfrm>
    </dsp:sp>
    <dsp:sp modelId="{E9BBF01C-933D-49A8-8871-99E78DDE38A5}">
      <dsp:nvSpPr>
        <dsp:cNvPr id="0" name=""/>
        <dsp:cNvSpPr/>
      </dsp:nvSpPr>
      <dsp:spPr>
        <a:xfrm>
          <a:off x="0" y="36"/>
          <a:ext cx="1854178" cy="14637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/>
            <a:t>INDEPENDENTES</a:t>
          </a:r>
          <a:endParaRPr lang="pt-AO" sz="1400" kern="1200" dirty="0"/>
        </a:p>
      </dsp:txBody>
      <dsp:txXfrm>
        <a:off x="71452" y="71488"/>
        <a:ext cx="1711274" cy="1320802"/>
      </dsp:txXfrm>
    </dsp:sp>
    <dsp:sp modelId="{3ADA8D87-6269-4A59-935F-F486678CA92A}">
      <dsp:nvSpPr>
        <dsp:cNvPr id="0" name=""/>
        <dsp:cNvSpPr/>
      </dsp:nvSpPr>
      <dsp:spPr>
        <a:xfrm rot="5400000">
          <a:off x="2916855" y="620622"/>
          <a:ext cx="1170965" cy="329631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/>
            <a:t>Eficiência </a:t>
          </a:r>
          <a:endParaRPr lang="pt-AO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u="sng" kern="1200" dirty="0"/>
            <a:t>Confiável</a:t>
          </a:r>
          <a:r>
            <a:rPr lang="pt-BR" sz="2000" kern="1200" dirty="0"/>
            <a:t> no controle de presença dos estudantes </a:t>
          </a:r>
          <a:endParaRPr lang="pt-AO" sz="2000" kern="1200" dirty="0"/>
        </a:p>
      </dsp:txBody>
      <dsp:txXfrm rot="-5400000">
        <a:off x="1854179" y="1740460"/>
        <a:ext cx="3239156" cy="1056641"/>
      </dsp:txXfrm>
    </dsp:sp>
    <dsp:sp modelId="{397DD7CB-F8A9-411F-A453-091DE168F5F2}">
      <dsp:nvSpPr>
        <dsp:cNvPr id="0" name=""/>
        <dsp:cNvSpPr/>
      </dsp:nvSpPr>
      <dsp:spPr>
        <a:xfrm>
          <a:off x="0" y="1536928"/>
          <a:ext cx="1854178" cy="14637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DEPENDENTES</a:t>
          </a:r>
          <a:endParaRPr lang="pt-AO" sz="1400" kern="1200" dirty="0"/>
        </a:p>
      </dsp:txBody>
      <dsp:txXfrm>
        <a:off x="71452" y="1608380"/>
        <a:ext cx="1711274" cy="13208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12044-0A9C-454F-ACF7-532C29D16FA8}">
      <dsp:nvSpPr>
        <dsp:cNvPr id="0" name=""/>
        <dsp:cNvSpPr/>
      </dsp:nvSpPr>
      <dsp:spPr>
        <a:xfrm>
          <a:off x="0" y="36885"/>
          <a:ext cx="3988850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/>
            <a:t>Será realizada nas salas de aula e portões de acesso do ISP-BIÉ, com o objetivo de identificar como o processo de controle de presença é executado atualmente, registrando limitações, falhas e oportunidades para automatização, sem interferência direta no ambiente observado.</a:t>
          </a:r>
          <a:endParaRPr lang="pt-AO" sz="1200" kern="1200" dirty="0"/>
        </a:p>
      </dsp:txBody>
      <dsp:txXfrm>
        <a:off x="29053" y="65938"/>
        <a:ext cx="3930744" cy="1210866"/>
      </dsp:txXfrm>
    </dsp:sp>
    <dsp:sp modelId="{36AD13DF-F479-40B6-941A-700BBB979533}">
      <dsp:nvSpPr>
        <dsp:cNvPr id="0" name=""/>
        <dsp:cNvSpPr/>
      </dsp:nvSpPr>
      <dsp:spPr>
        <a:xfrm>
          <a:off x="0" y="1297263"/>
          <a:ext cx="3240260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OBSERVAÇÃO</a:t>
          </a:r>
          <a:endParaRPr lang="pt-AO" sz="2000" b="1" kern="1200" dirty="0"/>
        </a:p>
      </dsp:txBody>
      <dsp:txXfrm>
        <a:off x="0" y="1297263"/>
        <a:ext cx="2281873" cy="533165"/>
      </dsp:txXfrm>
    </dsp:sp>
    <dsp:sp modelId="{C9C4880D-31F2-4181-9248-CAFEB9794961}">
      <dsp:nvSpPr>
        <dsp:cNvPr id="0" name=""/>
        <dsp:cNvSpPr/>
      </dsp:nvSpPr>
      <dsp:spPr>
        <a:xfrm>
          <a:off x="2273857" y="1320101"/>
          <a:ext cx="510700" cy="50189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2000" r="-92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C9BA0-D7AF-4367-8C8A-971B161A191A}">
      <dsp:nvSpPr>
        <dsp:cNvPr id="0" name=""/>
        <dsp:cNvSpPr/>
      </dsp:nvSpPr>
      <dsp:spPr>
        <a:xfrm>
          <a:off x="4144119" y="52837"/>
          <a:ext cx="3810822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/>
            <a:t>Serão aplicados a estudantes e professores por meio de formulários online ou físicos, para recolher dados sobre a perceção do método atual de registo de presenças, nível de satisfação, expectativas e sugestões quanto ao uso de um sistema baseado em reconhecimento facial.</a:t>
          </a:r>
          <a:endParaRPr lang="pt-AO" sz="1200" kern="1200" dirty="0"/>
        </a:p>
      </dsp:txBody>
      <dsp:txXfrm>
        <a:off x="4173172" y="81890"/>
        <a:ext cx="3752716" cy="1210866"/>
      </dsp:txXfrm>
    </dsp:sp>
    <dsp:sp modelId="{CD47DF38-DB16-4608-A62A-6BB622C3D8C1}">
      <dsp:nvSpPr>
        <dsp:cNvPr id="0" name=""/>
        <dsp:cNvSpPr/>
      </dsp:nvSpPr>
      <dsp:spPr>
        <a:xfrm>
          <a:off x="4145251" y="1301913"/>
          <a:ext cx="3122576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INQUERITO</a:t>
          </a:r>
          <a:endParaRPr lang="pt-AO" sz="2000" b="1" kern="1200" dirty="0"/>
        </a:p>
      </dsp:txBody>
      <dsp:txXfrm>
        <a:off x="4145251" y="1301913"/>
        <a:ext cx="2198997" cy="533165"/>
      </dsp:txXfrm>
    </dsp:sp>
    <dsp:sp modelId="{770F0D45-2697-4766-8A9B-BBCE6D4C1971}">
      <dsp:nvSpPr>
        <dsp:cNvPr id="0" name=""/>
        <dsp:cNvSpPr/>
      </dsp:nvSpPr>
      <dsp:spPr>
        <a:xfrm>
          <a:off x="6465482" y="1351066"/>
          <a:ext cx="510636" cy="44597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0D026-7828-4883-9003-36FC71F6F558}">
      <dsp:nvSpPr>
        <dsp:cNvPr id="0" name=""/>
        <dsp:cNvSpPr/>
      </dsp:nvSpPr>
      <dsp:spPr>
        <a:xfrm>
          <a:off x="4198910" y="2333341"/>
          <a:ext cx="3734249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/>
            <a:t>Será realizada com um grupo reduzido de participantes (docentes, estudantes e técnico de informática), para estimular a geração de ideias criativas sobre funcionalidades, usabilidade e possíveis melhorias, contribuindo diretamente para a </a:t>
          </a:r>
          <a:r>
            <a:rPr lang="pt-PT" sz="1200" kern="1200" dirty="0" err="1"/>
            <a:t>concepção</a:t>
          </a:r>
          <a:r>
            <a:rPr lang="pt-PT" sz="1200" kern="1200" dirty="0"/>
            <a:t> e interface do sistema.</a:t>
          </a:r>
          <a:endParaRPr lang="pt-AO" sz="1200" kern="1200" dirty="0">
            <a:latin typeface="+mj-lt"/>
          </a:endParaRPr>
        </a:p>
      </dsp:txBody>
      <dsp:txXfrm>
        <a:off x="4227963" y="2362394"/>
        <a:ext cx="3676143" cy="1210866"/>
      </dsp:txXfrm>
    </dsp:sp>
    <dsp:sp modelId="{4143BE55-355E-4C46-8670-9CC8FC6667BF}">
      <dsp:nvSpPr>
        <dsp:cNvPr id="0" name=""/>
        <dsp:cNvSpPr/>
      </dsp:nvSpPr>
      <dsp:spPr>
        <a:xfrm>
          <a:off x="0" y="3530834"/>
          <a:ext cx="3219563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ENTREVISTA</a:t>
          </a:r>
          <a:endParaRPr lang="pt-AO" sz="2000" b="1" kern="1200" dirty="0"/>
        </a:p>
      </dsp:txBody>
      <dsp:txXfrm>
        <a:off x="0" y="3530834"/>
        <a:ext cx="2267298" cy="533165"/>
      </dsp:txXfrm>
    </dsp:sp>
    <dsp:sp modelId="{9E5DBD94-9377-4A0F-8D46-8C12B6E2338A}">
      <dsp:nvSpPr>
        <dsp:cNvPr id="0" name=""/>
        <dsp:cNvSpPr/>
      </dsp:nvSpPr>
      <dsp:spPr>
        <a:xfrm>
          <a:off x="2494600" y="3592425"/>
          <a:ext cx="513438" cy="47157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11161-07CA-46EB-8865-FEEC17A0417E}">
      <dsp:nvSpPr>
        <dsp:cNvPr id="0" name=""/>
        <dsp:cNvSpPr/>
      </dsp:nvSpPr>
      <dsp:spPr>
        <a:xfrm>
          <a:off x="0" y="2274513"/>
          <a:ext cx="4064228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/>
            <a:t>Serão conduzidas com coordenadores, professores e responsáveis administrativos, visando compreender as necessidades reais da instituição, identificar requisitos específicos para o sistema proposto e captar opiniões sobre segurança, funcionalidade e aplicabilidade do </a:t>
          </a:r>
          <a:r>
            <a:rPr lang="pt-PT" sz="1200" kern="1200" dirty="0" err="1"/>
            <a:t>SmartAccess</a:t>
          </a:r>
          <a:r>
            <a:rPr lang="pt-PT" sz="1200" kern="1200" dirty="0"/>
            <a:t>.</a:t>
          </a:r>
          <a:endParaRPr lang="pt-AO" sz="1200" kern="1200" dirty="0">
            <a:latin typeface="+mj-lt"/>
          </a:endParaRPr>
        </a:p>
      </dsp:txBody>
      <dsp:txXfrm>
        <a:off x="29053" y="2303566"/>
        <a:ext cx="4006122" cy="1210866"/>
      </dsp:txXfrm>
    </dsp:sp>
    <dsp:sp modelId="{82A59FA3-8A05-43F2-8E80-DEC949D035D4}">
      <dsp:nvSpPr>
        <dsp:cNvPr id="0" name=""/>
        <dsp:cNvSpPr/>
      </dsp:nvSpPr>
      <dsp:spPr>
        <a:xfrm>
          <a:off x="4199932" y="3530834"/>
          <a:ext cx="3086299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CHUVA DE IDEIAS</a:t>
          </a:r>
          <a:endParaRPr lang="pt-AO" sz="2000" b="1" kern="1200" dirty="0"/>
        </a:p>
      </dsp:txBody>
      <dsp:txXfrm>
        <a:off x="4199932" y="3530834"/>
        <a:ext cx="2173450" cy="533165"/>
      </dsp:txXfrm>
    </dsp:sp>
    <dsp:sp modelId="{E74DDFA6-241B-4ABE-99F2-5EB0E0489676}">
      <dsp:nvSpPr>
        <dsp:cNvPr id="0" name=""/>
        <dsp:cNvSpPr/>
      </dsp:nvSpPr>
      <dsp:spPr>
        <a:xfrm>
          <a:off x="6613713" y="3480709"/>
          <a:ext cx="581358" cy="58135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12044-0A9C-454F-ACF7-532C29D16FA8}">
      <dsp:nvSpPr>
        <dsp:cNvPr id="0" name=""/>
        <dsp:cNvSpPr/>
      </dsp:nvSpPr>
      <dsp:spPr>
        <a:xfrm>
          <a:off x="0" y="471633"/>
          <a:ext cx="3993153" cy="124125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/>
            <a:t>Será realizado um levantamento teórico sobre a evolução dos sistemas de controle de acesso e presença, com ênfase em tecnologias biométricas e reconhecimento facial, permitindo compreender como esses recursos vêm sendo utilizados em ambientes educacionais e como se justifica a sua aplicação no ISP-BIÉ</a:t>
          </a:r>
          <a:endParaRPr lang="pt-AO" sz="1200" kern="1200" dirty="0"/>
        </a:p>
      </dsp:txBody>
      <dsp:txXfrm>
        <a:off x="29084" y="500717"/>
        <a:ext cx="3934985" cy="1212173"/>
      </dsp:txXfrm>
    </dsp:sp>
    <dsp:sp modelId="{36AD13DF-F479-40B6-941A-700BBB979533}">
      <dsp:nvSpPr>
        <dsp:cNvPr id="0" name=""/>
        <dsp:cNvSpPr/>
      </dsp:nvSpPr>
      <dsp:spPr>
        <a:xfrm>
          <a:off x="0" y="1733371"/>
          <a:ext cx="3243755" cy="5337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HISTÓRICO LÓGICO </a:t>
          </a:r>
          <a:endParaRPr lang="pt-AO" sz="2000" b="1" kern="1200" dirty="0"/>
        </a:p>
      </dsp:txBody>
      <dsp:txXfrm>
        <a:off x="0" y="1733371"/>
        <a:ext cx="2284335" cy="533740"/>
      </dsp:txXfrm>
    </dsp:sp>
    <dsp:sp modelId="{C9C4880D-31F2-4181-9248-CAFEB9794961}">
      <dsp:nvSpPr>
        <dsp:cNvPr id="0" name=""/>
        <dsp:cNvSpPr/>
      </dsp:nvSpPr>
      <dsp:spPr>
        <a:xfrm>
          <a:off x="2272019" y="1756234"/>
          <a:ext cx="511251" cy="50243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C9BA0-D7AF-4367-8C8A-971B161A191A}">
      <dsp:nvSpPr>
        <dsp:cNvPr id="0" name=""/>
        <dsp:cNvSpPr/>
      </dsp:nvSpPr>
      <dsp:spPr>
        <a:xfrm>
          <a:off x="4106065" y="443066"/>
          <a:ext cx="3814933" cy="124125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/>
            <a:t>Serão analisados documentos institucionais como regulamentos internos, relatórios de frequência, normas de assiduidade e procedimentos administrativos, com o intuito de entender as exigências formais da gestão acadêmica e garantir que o sistema proposto esteja alinhado às práticas e regras vigentes na instituição</a:t>
          </a:r>
          <a:endParaRPr lang="pt-AO" sz="1200" kern="1200" dirty="0"/>
        </a:p>
      </dsp:txBody>
      <dsp:txXfrm>
        <a:off x="4135149" y="472150"/>
        <a:ext cx="3756765" cy="1212173"/>
      </dsp:txXfrm>
    </dsp:sp>
    <dsp:sp modelId="{CD47DF38-DB16-4608-A62A-6BB622C3D8C1}">
      <dsp:nvSpPr>
        <dsp:cNvPr id="0" name=""/>
        <dsp:cNvSpPr/>
      </dsp:nvSpPr>
      <dsp:spPr>
        <a:xfrm>
          <a:off x="4145432" y="1738026"/>
          <a:ext cx="3125945" cy="5337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/>
            <a:t>ANÁLISE DOCUMENTAL</a:t>
          </a:r>
          <a:endParaRPr lang="pt-AO" sz="2000" b="1" kern="1200" dirty="0"/>
        </a:p>
      </dsp:txBody>
      <dsp:txXfrm>
        <a:off x="4145432" y="1738026"/>
        <a:ext cx="2201369" cy="533740"/>
      </dsp:txXfrm>
    </dsp:sp>
    <dsp:sp modelId="{770F0D45-2697-4766-8A9B-BBCE6D4C1971}">
      <dsp:nvSpPr>
        <dsp:cNvPr id="0" name=""/>
        <dsp:cNvSpPr/>
      </dsp:nvSpPr>
      <dsp:spPr>
        <a:xfrm>
          <a:off x="6468166" y="1787232"/>
          <a:ext cx="511187" cy="44645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031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99b58df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299b58df5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14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023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540e55c11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540e55c11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540e55c114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540e55c114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941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645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557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568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031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305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7504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76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22475"/>
            <a:ext cx="5643300" cy="22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961888" y="3989826"/>
            <a:ext cx="2469000" cy="6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373700" y="3090650"/>
            <a:ext cx="3759300" cy="8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47300" y="2705650"/>
            <a:ext cx="1190100" cy="63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373700" y="3823250"/>
            <a:ext cx="3759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4786348" y="1888150"/>
            <a:ext cx="33741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720000" y="1888150"/>
            <a:ext cx="33741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7995185" y="4355278"/>
            <a:ext cx="8418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215675" y="975775"/>
            <a:ext cx="32151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215950" y="2137200"/>
            <a:ext cx="32151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1604711" y="2054559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5768261" y="2052160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1604711" y="3766425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5768261" y="3766423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5" y="165977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5" y="33973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7" hasCustomPrompt="1"/>
          </p:nvPr>
        </p:nvSpPr>
        <p:spPr>
          <a:xfrm>
            <a:off x="4883525" y="16597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8" hasCustomPrompt="1"/>
          </p:nvPr>
        </p:nvSpPr>
        <p:spPr>
          <a:xfrm>
            <a:off x="4883525" y="339930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9"/>
          </p:nvPr>
        </p:nvSpPr>
        <p:spPr>
          <a:xfrm>
            <a:off x="1604713" y="1316550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3"/>
          </p:nvPr>
        </p:nvSpPr>
        <p:spPr>
          <a:xfrm>
            <a:off x="5768263" y="1317101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4"/>
          </p:nvPr>
        </p:nvSpPr>
        <p:spPr>
          <a:xfrm>
            <a:off x="1604713" y="3028132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5"/>
          </p:nvPr>
        </p:nvSpPr>
        <p:spPr>
          <a:xfrm>
            <a:off x="5768263" y="3028127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968871" y="3172500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968875" y="1309200"/>
            <a:ext cx="44619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5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ubTitle" idx="1"/>
          </p:nvPr>
        </p:nvSpPr>
        <p:spPr>
          <a:xfrm>
            <a:off x="720001" y="223853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ubTitle" idx="2"/>
          </p:nvPr>
        </p:nvSpPr>
        <p:spPr>
          <a:xfrm>
            <a:off x="3189850" y="223853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ubTitle" idx="3"/>
          </p:nvPr>
        </p:nvSpPr>
        <p:spPr>
          <a:xfrm>
            <a:off x="720001" y="38791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ubTitle" idx="4"/>
          </p:nvPr>
        </p:nvSpPr>
        <p:spPr>
          <a:xfrm>
            <a:off x="3189850" y="38791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5"/>
          </p:nvPr>
        </p:nvSpPr>
        <p:spPr>
          <a:xfrm>
            <a:off x="5661199" y="223853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subTitle" idx="6"/>
          </p:nvPr>
        </p:nvSpPr>
        <p:spPr>
          <a:xfrm>
            <a:off x="720000" y="1402007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7"/>
          </p:nvPr>
        </p:nvSpPr>
        <p:spPr>
          <a:xfrm>
            <a:off x="3189850" y="1402007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subTitle" idx="8"/>
          </p:nvPr>
        </p:nvSpPr>
        <p:spPr>
          <a:xfrm>
            <a:off x="5659699" y="1402007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9"/>
          </p:nvPr>
        </p:nvSpPr>
        <p:spPr>
          <a:xfrm>
            <a:off x="720000" y="3042700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subTitle" idx="13"/>
          </p:nvPr>
        </p:nvSpPr>
        <p:spPr>
          <a:xfrm>
            <a:off x="3189850" y="3042700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/>
        </p:nvSpPr>
        <p:spPr>
          <a:xfrm>
            <a:off x="713250" y="210000"/>
            <a:ext cx="7717500" cy="47235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6"/>
          <p:cNvSpPr/>
          <p:nvPr/>
        </p:nvSpPr>
        <p:spPr>
          <a:xfrm>
            <a:off x="8142650" y="215775"/>
            <a:ext cx="1466100" cy="2076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6"/>
          <p:cNvSpPr/>
          <p:nvPr/>
        </p:nvSpPr>
        <p:spPr>
          <a:xfrm rot="5400000">
            <a:off x="1430450" y="3166495"/>
            <a:ext cx="424800" cy="27204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lt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7"/>
          <p:cNvSpPr/>
          <p:nvPr/>
        </p:nvSpPr>
        <p:spPr>
          <a:xfrm flipH="1">
            <a:off x="320400" y="-463275"/>
            <a:ext cx="1466100" cy="2076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7"/>
          <p:cNvSpPr/>
          <p:nvPr/>
        </p:nvSpPr>
        <p:spPr>
          <a:xfrm rot="-5400000" flipH="1">
            <a:off x="6643550" y="3531816"/>
            <a:ext cx="1166400" cy="27204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1" r:id="rId8"/>
    <p:sldLayoutId id="2147483674" r:id="rId9"/>
    <p:sldLayoutId id="2147483682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>
            <a:spLocks noGrp="1"/>
          </p:cNvSpPr>
          <p:nvPr>
            <p:ph type="ctrTitle"/>
          </p:nvPr>
        </p:nvSpPr>
        <p:spPr>
          <a:xfrm>
            <a:off x="1882148" y="1320589"/>
            <a:ext cx="5379703" cy="23884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PT" altLang="en-US" sz="2000" dirty="0"/>
              <a:t>Instituto Superior Politécnico do Bié</a:t>
            </a:r>
            <a:br>
              <a:rPr lang="pt-PT" altLang="en-US" sz="2000" dirty="0"/>
            </a:br>
            <a:r>
              <a:rPr lang="pt-PT" altLang="en-US" sz="2000" dirty="0"/>
              <a:t>Departamento de Engenharias</a:t>
            </a:r>
            <a:br>
              <a:rPr lang="pt-PT" altLang="en-US" sz="2000" dirty="0"/>
            </a:br>
            <a:r>
              <a:rPr lang="pt-PT" altLang="en-US" sz="2000" dirty="0"/>
              <a:t>Curso de Engenharia Informática</a:t>
            </a:r>
            <a:br>
              <a:rPr lang="pt-PT" altLang="en-US" sz="2000" dirty="0"/>
            </a:br>
            <a:br>
              <a:rPr lang="pt-AO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</a:br>
            <a:r>
              <a:rPr lang="pt-BR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Título</a:t>
            </a:r>
            <a:br>
              <a:rPr lang="pt-BR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</a:br>
            <a:r>
              <a:rPr lang="pt-BR" sz="2000" dirty="0"/>
              <a:t>Sistema Inteligente de Controle de Presença com Reconhecimento Facial no ISP-BIÉ</a:t>
            </a:r>
            <a:br>
              <a:rPr lang="pt-BR" sz="2000" dirty="0"/>
            </a:br>
            <a:br>
              <a:rPr lang="pt-BR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</a:br>
            <a:br>
              <a:rPr lang="pt-AO" sz="2000" dirty="0"/>
            </a:br>
            <a:endParaRPr sz="2000" dirty="0"/>
          </a:p>
        </p:txBody>
      </p:sp>
      <p:grpSp>
        <p:nvGrpSpPr>
          <p:cNvPr id="253" name="Google Shape;253;p41"/>
          <p:cNvGrpSpPr/>
          <p:nvPr/>
        </p:nvGrpSpPr>
        <p:grpSpPr>
          <a:xfrm>
            <a:off x="218064" y="149889"/>
            <a:ext cx="8756214" cy="4833786"/>
            <a:chOff x="282650" y="68480"/>
            <a:chExt cx="8756214" cy="4833786"/>
          </a:xfrm>
        </p:grpSpPr>
        <p:sp>
          <p:nvSpPr>
            <p:cNvPr id="254" name="Google Shape;254;p41"/>
            <p:cNvSpPr/>
            <p:nvPr/>
          </p:nvSpPr>
          <p:spPr>
            <a:xfrm rot="16200000">
              <a:off x="7343043" y="387492"/>
              <a:ext cx="2014834" cy="1376809"/>
            </a:xfrm>
            <a:prstGeom prst="round2DiagRect">
              <a:avLst>
                <a:gd name="adj1" fmla="val 50000"/>
                <a:gd name="adj2" fmla="val 4773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 rot="5400000">
              <a:off x="1059650" y="2958866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vert="vert270" wrap="square" lIns="91425" tIns="91425" rIns="91425" bIns="91425" anchor="ctr" anchorCtr="0">
              <a:noAutofit/>
            </a:bodyPr>
            <a:lstStyle/>
            <a:p>
              <a:r>
                <a:rPr lang="pt-PT" b="1" dirty="0"/>
                <a:t>Por: Joaquim Paulo Alberto Nangayamale</a:t>
              </a:r>
              <a:endParaRPr lang="pt-AO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41"/>
            <p:cNvSpPr/>
            <p:nvPr/>
          </p:nvSpPr>
          <p:spPr>
            <a:xfrm rot="-5400000">
              <a:off x="7735975" y="2932862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FE71FDB-FB38-4416-83F9-6F2033E150E0}"/>
              </a:ext>
            </a:extLst>
          </p:cNvPr>
          <p:cNvSpPr/>
          <p:nvPr/>
        </p:nvSpPr>
        <p:spPr>
          <a:xfrm>
            <a:off x="3563056" y="4820857"/>
            <a:ext cx="1743075" cy="1628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200" b="1" i="1" dirty="0"/>
              <a:t>CUITO-2024 -2025</a:t>
            </a:r>
            <a:endParaRPr lang="pt-AO" sz="1200" dirty="0"/>
          </a:p>
          <a:p>
            <a:pPr algn="ctr"/>
            <a:endParaRPr lang="pt-AO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7E789E9F-1E8C-404C-836F-D94AD9FEC15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167" y="556434"/>
            <a:ext cx="1160780" cy="798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41"/>
          <p:cNvGrpSpPr/>
          <p:nvPr/>
        </p:nvGrpSpPr>
        <p:grpSpPr>
          <a:xfrm>
            <a:off x="218064" y="149889"/>
            <a:ext cx="8756215" cy="4833786"/>
            <a:chOff x="282650" y="68480"/>
            <a:chExt cx="8756215" cy="4833786"/>
          </a:xfrm>
        </p:grpSpPr>
        <p:sp>
          <p:nvSpPr>
            <p:cNvPr id="254" name="Google Shape;254;p41"/>
            <p:cNvSpPr/>
            <p:nvPr/>
          </p:nvSpPr>
          <p:spPr>
            <a:xfrm rot="16200000">
              <a:off x="7532362" y="576810"/>
              <a:ext cx="2014834" cy="998173"/>
            </a:xfrm>
            <a:prstGeom prst="round2DiagRect">
              <a:avLst>
                <a:gd name="adj1" fmla="val 50000"/>
                <a:gd name="adj2" fmla="val 4773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 rot="5400000">
              <a:off x="1112726" y="3170992"/>
              <a:ext cx="901198" cy="256135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vert="vert270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FE71FDB-FB38-4416-83F9-6F2033E150E0}"/>
              </a:ext>
            </a:extLst>
          </p:cNvPr>
          <p:cNvSpPr/>
          <p:nvPr/>
        </p:nvSpPr>
        <p:spPr>
          <a:xfrm>
            <a:off x="3563056" y="4820857"/>
            <a:ext cx="1743075" cy="1628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17C7D0F-9ACA-4C06-A1EF-C545A4409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83" y="1749398"/>
            <a:ext cx="7557211" cy="2207400"/>
          </a:xfrm>
        </p:spPr>
        <p:txBody>
          <a:bodyPr/>
          <a:lstStyle/>
          <a:p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Este projeto propõe o desenvolvimento de um sistema inteligente de Reconhecimento Facial denominado “</a:t>
            </a:r>
            <a:r>
              <a:rPr lang="pt-PT" sz="2000" dirty="0" err="1">
                <a:latin typeface="Arial" panose="020B0604020202020204" pitchFamily="34" charset="0"/>
                <a:cs typeface="Arial" panose="020B0604020202020204" pitchFamily="34" charset="0"/>
              </a:rPr>
              <a:t>SmartAccess</a:t>
            </a: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 ISP-BIÉ”, e tem como objetivo melhorar a eficiência, segurança e controle da presença dos estudantes nas turmas e no recinto escolar.</a:t>
            </a:r>
            <a:br>
              <a:rPr lang="pt-AO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A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275;p43">
            <a:extLst>
              <a:ext uri="{FF2B5EF4-FFF2-40B4-BE49-F238E27FC236}">
                <a16:creationId xmlns:a16="http://schemas.microsoft.com/office/drawing/2014/main" id="{718C6403-188B-46E7-B128-6C87F7C935B5}"/>
              </a:ext>
            </a:extLst>
          </p:cNvPr>
          <p:cNvSpPr txBox="1">
            <a:spLocks/>
          </p:cNvSpPr>
          <p:nvPr/>
        </p:nvSpPr>
        <p:spPr>
          <a:xfrm>
            <a:off x="1498739" y="7446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4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pt-PT" sz="4000" b="1" dirty="0"/>
              <a:t>INTRODUÇÃO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6269580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/>
          <p:nvPr/>
        </p:nvSpPr>
        <p:spPr>
          <a:xfrm rot="-5400000">
            <a:off x="371525" y="1641107"/>
            <a:ext cx="810215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3"/>
          <p:cNvSpPr txBox="1">
            <a:spLocks noGrp="1"/>
          </p:cNvSpPr>
          <p:nvPr>
            <p:ph type="title"/>
          </p:nvPr>
        </p:nvSpPr>
        <p:spPr>
          <a:xfrm>
            <a:off x="720000" y="4426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4000" b="1" dirty="0"/>
              <a:t>SITUAÇÕES </a:t>
            </a:r>
            <a:r>
              <a:rPr lang="pt-BR" sz="4000" b="1" dirty="0"/>
              <a:t>PROBLEMÁTICAS</a:t>
            </a:r>
            <a:r>
              <a:rPr lang="pt-PT" sz="4000" b="1" dirty="0"/>
              <a:t>:</a:t>
            </a:r>
            <a:br>
              <a:rPr lang="pt-AO" dirty="0"/>
            </a:br>
            <a:endParaRPr dirty="0"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 idx="5"/>
          </p:nvPr>
        </p:nvSpPr>
        <p:spPr>
          <a:xfrm>
            <a:off x="409282" y="17205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3" name="Google Shape;283;p43"/>
          <p:cNvSpPr txBox="1">
            <a:spLocks noGrp="1"/>
          </p:cNvSpPr>
          <p:nvPr>
            <p:ph type="title" idx="8"/>
          </p:nvPr>
        </p:nvSpPr>
        <p:spPr>
          <a:xfrm>
            <a:off x="4883525" y="339930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284" name="Google Shape;284;p43"/>
          <p:cNvSpPr txBox="1">
            <a:spLocks noGrp="1"/>
          </p:cNvSpPr>
          <p:nvPr>
            <p:ph type="subTitle" idx="9"/>
          </p:nvPr>
        </p:nvSpPr>
        <p:spPr>
          <a:xfrm>
            <a:off x="1053940" y="3329003"/>
            <a:ext cx="3439029" cy="697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/>
              <a:t>Falta de um sistema informático de controle de presença para os estudantes</a:t>
            </a:r>
            <a:endParaRPr lang="pt-AO" sz="1400" dirty="0"/>
          </a:p>
        </p:txBody>
      </p:sp>
      <p:sp>
        <p:nvSpPr>
          <p:cNvPr id="21" name="Google Shape;271;p43">
            <a:extLst>
              <a:ext uri="{FF2B5EF4-FFF2-40B4-BE49-F238E27FC236}">
                <a16:creationId xmlns:a16="http://schemas.microsoft.com/office/drawing/2014/main" id="{366EA3A4-918F-4E12-B234-86E86832D76E}"/>
              </a:ext>
            </a:extLst>
          </p:cNvPr>
          <p:cNvSpPr/>
          <p:nvPr/>
        </p:nvSpPr>
        <p:spPr>
          <a:xfrm rot="16200000">
            <a:off x="382236" y="3348451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80;p43">
            <a:extLst>
              <a:ext uri="{FF2B5EF4-FFF2-40B4-BE49-F238E27FC236}">
                <a16:creationId xmlns:a16="http://schemas.microsoft.com/office/drawing/2014/main" id="{FA89DDC8-B28C-4136-8512-945F5704B101}"/>
              </a:ext>
            </a:extLst>
          </p:cNvPr>
          <p:cNvSpPr txBox="1">
            <a:spLocks/>
          </p:cNvSpPr>
          <p:nvPr/>
        </p:nvSpPr>
        <p:spPr>
          <a:xfrm>
            <a:off x="460235" y="338869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02</a:t>
            </a:r>
          </a:p>
        </p:txBody>
      </p:sp>
      <p:sp>
        <p:nvSpPr>
          <p:cNvPr id="25" name="Google Shape;284;p43">
            <a:extLst>
              <a:ext uri="{FF2B5EF4-FFF2-40B4-BE49-F238E27FC236}">
                <a16:creationId xmlns:a16="http://schemas.microsoft.com/office/drawing/2014/main" id="{CCC44FED-4F3D-4D59-888B-0194A463A247}"/>
              </a:ext>
            </a:extLst>
          </p:cNvPr>
          <p:cNvSpPr txBox="1">
            <a:spLocks/>
          </p:cNvSpPr>
          <p:nvPr/>
        </p:nvSpPr>
        <p:spPr>
          <a:xfrm>
            <a:off x="886962" y="1538036"/>
            <a:ext cx="3680228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/>
              <a:t>Necessidade de modernizar a gestão acadêmica </a:t>
            </a:r>
            <a:endParaRPr lang="pt-AO" dirty="0"/>
          </a:p>
        </p:txBody>
      </p:sp>
      <p:sp>
        <p:nvSpPr>
          <p:cNvPr id="26" name="Google Shape;271;p43">
            <a:extLst>
              <a:ext uri="{FF2B5EF4-FFF2-40B4-BE49-F238E27FC236}">
                <a16:creationId xmlns:a16="http://schemas.microsoft.com/office/drawing/2014/main" id="{CFE7E2D9-84FB-4D8B-B5F6-E7A08D102771}"/>
              </a:ext>
            </a:extLst>
          </p:cNvPr>
          <p:cNvSpPr/>
          <p:nvPr/>
        </p:nvSpPr>
        <p:spPr>
          <a:xfrm rot="16200000">
            <a:off x="4344725" y="1574518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80;p43">
            <a:extLst>
              <a:ext uri="{FF2B5EF4-FFF2-40B4-BE49-F238E27FC236}">
                <a16:creationId xmlns:a16="http://schemas.microsoft.com/office/drawing/2014/main" id="{2728EADB-09F7-45DA-BB35-5711AFA3DD2B}"/>
              </a:ext>
            </a:extLst>
          </p:cNvPr>
          <p:cNvSpPr txBox="1">
            <a:spLocks/>
          </p:cNvSpPr>
          <p:nvPr/>
        </p:nvSpPr>
        <p:spPr>
          <a:xfrm>
            <a:off x="4403619" y="160581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47" name="Google Shape;284;p43">
            <a:extLst>
              <a:ext uri="{FF2B5EF4-FFF2-40B4-BE49-F238E27FC236}">
                <a16:creationId xmlns:a16="http://schemas.microsoft.com/office/drawing/2014/main" id="{F1493809-5EE3-4C81-8633-257C5B8E720F}"/>
              </a:ext>
            </a:extLst>
          </p:cNvPr>
          <p:cNvSpPr txBox="1">
            <a:spLocks/>
          </p:cNvSpPr>
          <p:nvPr/>
        </p:nvSpPr>
        <p:spPr>
          <a:xfrm>
            <a:off x="5138319" y="2053415"/>
            <a:ext cx="3793666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/>
              <a:t>Ausência de relatórios informatizados para a gestão de presença dos estudantes</a:t>
            </a:r>
            <a:endParaRPr lang="pt-AO" dirty="0"/>
          </a:p>
        </p:txBody>
      </p:sp>
      <p:sp>
        <p:nvSpPr>
          <p:cNvPr id="13" name="Google Shape;271;p43">
            <a:extLst>
              <a:ext uri="{FF2B5EF4-FFF2-40B4-BE49-F238E27FC236}">
                <a16:creationId xmlns:a16="http://schemas.microsoft.com/office/drawing/2014/main" id="{C9142D95-6AB8-4C56-B7CE-0AF149F38378}"/>
              </a:ext>
            </a:extLst>
          </p:cNvPr>
          <p:cNvSpPr/>
          <p:nvPr/>
        </p:nvSpPr>
        <p:spPr>
          <a:xfrm rot="16200000">
            <a:off x="4438175" y="3348452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80;p43">
            <a:extLst>
              <a:ext uri="{FF2B5EF4-FFF2-40B4-BE49-F238E27FC236}">
                <a16:creationId xmlns:a16="http://schemas.microsoft.com/office/drawing/2014/main" id="{70E23B42-0BC3-4E18-BAE3-8904F339D8EA}"/>
              </a:ext>
            </a:extLst>
          </p:cNvPr>
          <p:cNvSpPr txBox="1">
            <a:spLocks/>
          </p:cNvSpPr>
          <p:nvPr/>
        </p:nvSpPr>
        <p:spPr>
          <a:xfrm>
            <a:off x="4539380" y="339930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5" name="Google Shape;284;p43">
            <a:extLst>
              <a:ext uri="{FF2B5EF4-FFF2-40B4-BE49-F238E27FC236}">
                <a16:creationId xmlns:a16="http://schemas.microsoft.com/office/drawing/2014/main" id="{FDB6C895-5294-4AC2-8F33-E4C4E60B1EB3}"/>
              </a:ext>
            </a:extLst>
          </p:cNvPr>
          <p:cNvSpPr txBox="1">
            <a:spLocks/>
          </p:cNvSpPr>
          <p:nvPr/>
        </p:nvSpPr>
        <p:spPr>
          <a:xfrm>
            <a:off x="5138319" y="3592120"/>
            <a:ext cx="3793666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/>
              <a:t>Facilidade de fraude no método de controle de presença actual</a:t>
            </a:r>
            <a:endParaRPr lang="pt-AO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2043975" y="9972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b="1" dirty="0"/>
              <a:t>PROBLEMA CIENTÍFICO </a:t>
            </a:r>
            <a:endParaRPr lang="pt-AO" b="1" dirty="0"/>
          </a:p>
        </p:txBody>
      </p:sp>
      <p:sp>
        <p:nvSpPr>
          <p:cNvPr id="264" name="Google Shape;264;p42"/>
          <p:cNvSpPr txBox="1"/>
          <p:nvPr/>
        </p:nvSpPr>
        <p:spPr>
          <a:xfrm>
            <a:off x="1765426" y="2038351"/>
            <a:ext cx="6881549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pt-BR" sz="2000" dirty="0"/>
              <a:t>Como um sistema Inteligente de reconhecimento facial pode melhorar o controle de presença dos estudantes no ISP-BIÉ?</a:t>
            </a:r>
            <a:endParaRPr lang="pt-AO" sz="2000" b="1" dirty="0">
              <a:solidFill>
                <a:schemeClr val="tx1"/>
              </a:solidFill>
            </a:endParaRPr>
          </a:p>
        </p:txBody>
      </p:sp>
      <p:sp>
        <p:nvSpPr>
          <p:cNvPr id="9" name="Google Shape;310;p45">
            <a:extLst>
              <a:ext uri="{FF2B5EF4-FFF2-40B4-BE49-F238E27FC236}">
                <a16:creationId xmlns:a16="http://schemas.microsoft.com/office/drawing/2014/main" id="{BE909560-95AD-4406-8A39-D462CE925E8C}"/>
              </a:ext>
            </a:extLst>
          </p:cNvPr>
          <p:cNvSpPr/>
          <p:nvPr/>
        </p:nvSpPr>
        <p:spPr>
          <a:xfrm rot="5400000" flipH="1">
            <a:off x="469033" y="-79408"/>
            <a:ext cx="1417500" cy="1881188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92AECE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dirty="0"/>
              <a:t> </a:t>
            </a:r>
            <a:r>
              <a:rPr lang="pt-BR" sz="6000" dirty="0">
                <a:solidFill>
                  <a:schemeClr val="tx1"/>
                </a:solidFill>
              </a:rPr>
              <a:t> </a:t>
            </a:r>
            <a:endParaRPr sz="6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3848550" y="1029280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OBJECTO DE ESTUDO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2341984" y="2576420"/>
            <a:ext cx="6182098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pt-BR" sz="2000" dirty="0"/>
              <a:t>A Implementação de um sistema de reconhecimento facial como ferramenta para o controle de presença dos estudantes no </a:t>
            </a:r>
            <a:r>
              <a:rPr lang="pt-AO" sz="2000" dirty="0"/>
              <a:t>ISP-BIÉ</a:t>
            </a:r>
            <a:r>
              <a:rPr lang="pt-BR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34"/>
            <a:chOff x="239725" y="258566"/>
            <a:chExt cx="8596750" cy="4626634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987375" y="1842725"/>
              <a:ext cx="1972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 flipH="1">
              <a:off x="239725" y="2808300"/>
              <a:ext cx="1466100" cy="20769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 rot="-5400000">
              <a:off x="92725" y="1842750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787525" y="1115066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CAMPO DE ACÇÃO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1599925" y="2361631"/>
            <a:ext cx="6182098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pt-BR" sz="2000" dirty="0"/>
              <a:t>Processo de controle de presença dos estudantes do </a:t>
            </a:r>
            <a:r>
              <a:rPr lang="pt-AO" sz="2000" dirty="0"/>
              <a:t>ISP-BIÉ</a:t>
            </a:r>
            <a:r>
              <a:rPr lang="pt-BR" sz="20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34"/>
            <a:chOff x="239725" y="258566"/>
            <a:chExt cx="8596750" cy="4626634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 flipH="1">
              <a:off x="239725" y="2808300"/>
              <a:ext cx="1466100" cy="20769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 rot="-5400000">
              <a:off x="92725" y="1842750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18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787525" y="1115066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OBJECTIVO GERAL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709127" y="2361631"/>
            <a:ext cx="7072896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pt-BR" sz="2000" dirty="0"/>
              <a:t>Desenvolver e implementar um sistema inteligente de reconhecimento facial para o controle de presença dos estudantes no </a:t>
            </a:r>
            <a:r>
              <a:rPr lang="pt-AO" sz="2000" dirty="0"/>
              <a:t>ISP-BIÉ</a:t>
            </a:r>
            <a:r>
              <a:rPr lang="pt-BR" sz="2000" dirty="0"/>
              <a:t>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25"/>
            <a:chOff x="239725" y="258566"/>
            <a:chExt cx="8596750" cy="4626625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687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625922" y="398371"/>
            <a:ext cx="7705543" cy="721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PT" sz="2800" b="1" dirty="0"/>
              <a:t>OBJECTIVOS </a:t>
            </a:r>
            <a:r>
              <a:rPr lang="pt-BR" sz="2800" b="1" dirty="0"/>
              <a:t>ESPECÍFICOS </a:t>
            </a:r>
            <a:endParaRPr sz="2800" dirty="0"/>
          </a:p>
        </p:txBody>
      </p:sp>
      <p:sp>
        <p:nvSpPr>
          <p:cNvPr id="4" name="Google Shape;317;p46">
            <a:extLst>
              <a:ext uri="{FF2B5EF4-FFF2-40B4-BE49-F238E27FC236}">
                <a16:creationId xmlns:a16="http://schemas.microsoft.com/office/drawing/2014/main" id="{EC7A9062-8293-47F7-AF32-0CD3ECC8585B}"/>
              </a:ext>
            </a:extLst>
          </p:cNvPr>
          <p:cNvSpPr txBox="1">
            <a:spLocks/>
          </p:cNvSpPr>
          <p:nvPr/>
        </p:nvSpPr>
        <p:spPr>
          <a:xfrm>
            <a:off x="1009277" y="1119674"/>
            <a:ext cx="6724259" cy="21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14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>
            <a:pPr marL="0" indent="0">
              <a:lnSpc>
                <a:spcPct val="100000"/>
              </a:lnSpc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1. Fundamentar os antecedentes históricos dos sistemas de controle de presença baseados em reconhecimento facial;</a:t>
            </a:r>
          </a:p>
          <a:p>
            <a:pPr marL="0" indent="0">
              <a:lnSpc>
                <a:spcPct val="100000"/>
              </a:lnSpc>
            </a:pPr>
            <a:endParaRPr lang="pt-AO" sz="18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0" indent="0">
              <a:lnSpc>
                <a:spcPct val="100000"/>
              </a:lnSpc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2. Caracterizar a situação atual do controle de presença de estudantes no ISP-BIÉ;</a:t>
            </a:r>
            <a:r>
              <a:rPr lang="pt-PT" sz="1800" b="1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</a:t>
            </a:r>
          </a:p>
          <a:p>
            <a:pPr marL="0" indent="0">
              <a:lnSpc>
                <a:spcPct val="100000"/>
              </a:lnSpc>
            </a:pPr>
            <a:endParaRPr lang="pt-AO" sz="18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0" indent="0">
              <a:lnSpc>
                <a:spcPct val="100000"/>
              </a:lnSpc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3. Implementar o sistema inteligente de reconhecimento facial para o controle de presença dos estudantes no 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</a:rPr>
              <a:t>ISP-BIÉ</a:t>
            </a: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;</a:t>
            </a:r>
          </a:p>
          <a:p>
            <a:pPr marL="0" indent="0">
              <a:lnSpc>
                <a:spcPct val="100000"/>
              </a:lnSpc>
            </a:pPr>
            <a:endParaRPr lang="pt-PT" sz="18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0" indent="0">
              <a:lnSpc>
                <a:spcPct val="100000"/>
              </a:lnSpc>
            </a:pPr>
            <a:r>
              <a:rPr lang="pt-BR" sz="18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4. Avaliar a eficiência do sistema em termos de precisão no reconhecimento e melhoria da gestão de presença dos estudantes.</a:t>
            </a:r>
            <a:endParaRPr lang="pt-AO" sz="1800" b="1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marL="0" indent="0">
              <a:lnSpc>
                <a:spcPct val="250000"/>
              </a:lnSpc>
            </a:pPr>
            <a:endParaRPr lang="pt-AO" b="1" dirty="0"/>
          </a:p>
          <a:p>
            <a:pPr marL="342900" indent="-342900">
              <a:lnSpc>
                <a:spcPct val="250000"/>
              </a:lnSpc>
              <a:buAutoNum type="arabicPeriod"/>
            </a:pPr>
            <a:endParaRPr lang="pt-PT" b="1" dirty="0">
              <a:latin typeface="+mj-lt"/>
            </a:endParaRPr>
          </a:p>
          <a:p>
            <a:pPr marL="0" indent="0">
              <a:lnSpc>
                <a:spcPct val="250000"/>
              </a:lnSpc>
            </a:pPr>
            <a:endParaRPr lang="pt-AO" b="1" dirty="0"/>
          </a:p>
          <a:p>
            <a:pPr marL="0" indent="0">
              <a:lnSpc>
                <a:spcPct val="250000"/>
              </a:lnSpc>
            </a:pPr>
            <a:endParaRPr lang="pt-BR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>
            <a:spLocks noGrp="1"/>
          </p:cNvSpPr>
          <p:nvPr>
            <p:ph type="title"/>
          </p:nvPr>
        </p:nvSpPr>
        <p:spPr>
          <a:xfrm>
            <a:off x="2416865" y="1423965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fontAlgn="base"/>
            <a:r>
              <a:rPr lang="pt-BR" sz="4000" b="1" dirty="0"/>
              <a:t>HIPÓTESE </a:t>
            </a:r>
            <a:endParaRPr lang="pt-AO" sz="4000" b="1" dirty="0"/>
          </a:p>
        </p:txBody>
      </p:sp>
      <p:grpSp>
        <p:nvGrpSpPr>
          <p:cNvPr id="522" name="Google Shape;522;p56"/>
          <p:cNvGrpSpPr/>
          <p:nvPr/>
        </p:nvGrpSpPr>
        <p:grpSpPr>
          <a:xfrm>
            <a:off x="282650" y="375216"/>
            <a:ext cx="2720400" cy="4527050"/>
            <a:chOff x="282650" y="375216"/>
            <a:chExt cx="2720400" cy="4527050"/>
          </a:xfrm>
        </p:grpSpPr>
        <p:sp>
          <p:nvSpPr>
            <p:cNvPr id="523" name="Google Shape;523;p56"/>
            <p:cNvSpPr/>
            <p:nvPr/>
          </p:nvSpPr>
          <p:spPr>
            <a:xfrm rot="5400000">
              <a:off x="1059650" y="2958866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6"/>
            <p:cNvSpPr/>
            <p:nvPr/>
          </p:nvSpPr>
          <p:spPr>
            <a:xfrm rot="5400000" flipH="1">
              <a:off x="1311949" y="-654083"/>
              <a:ext cx="661801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6"/>
            <p:cNvSpPr/>
            <p:nvPr/>
          </p:nvSpPr>
          <p:spPr>
            <a:xfrm rot="16200000">
              <a:off x="1311460" y="1064471"/>
              <a:ext cx="914099" cy="10383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" name="Google Shape;280;p43">
            <a:extLst>
              <a:ext uri="{FF2B5EF4-FFF2-40B4-BE49-F238E27FC236}">
                <a16:creationId xmlns:a16="http://schemas.microsoft.com/office/drawing/2014/main" id="{E4B10DAB-A1CA-48E2-8DDF-81C7036EDA10}"/>
              </a:ext>
            </a:extLst>
          </p:cNvPr>
          <p:cNvSpPr txBox="1">
            <a:spLocks/>
          </p:cNvSpPr>
          <p:nvPr/>
        </p:nvSpPr>
        <p:spPr>
          <a:xfrm>
            <a:off x="1552984" y="238406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8" name="Google Shape;293;p44">
            <a:extLst>
              <a:ext uri="{FF2B5EF4-FFF2-40B4-BE49-F238E27FC236}">
                <a16:creationId xmlns:a16="http://schemas.microsoft.com/office/drawing/2014/main" id="{D0EAEA9C-1A3A-4E4A-9BDD-8521770407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69849" y="2365219"/>
            <a:ext cx="7933822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pt-BR" sz="2000" dirty="0"/>
              <a:t>A implementação de um sistema inteligente de reconhecimento facial contribuirá para uma gestão mais eficiente e confiável da presença dos estudantes no ISP-BIÉ.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3"/>
          <p:cNvSpPr txBox="1">
            <a:spLocks noGrp="1"/>
          </p:cNvSpPr>
          <p:nvPr>
            <p:ph type="title"/>
          </p:nvPr>
        </p:nvSpPr>
        <p:spPr>
          <a:xfrm>
            <a:off x="3163849" y="372341"/>
            <a:ext cx="2816302" cy="743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dirty="0"/>
              <a:t>VARIÁVEIS </a:t>
            </a:r>
            <a:endParaRPr dirty="0"/>
          </a:p>
        </p:txBody>
      </p:sp>
      <p:sp>
        <p:nvSpPr>
          <p:cNvPr id="842" name="Google Shape;842;p73"/>
          <p:cNvSpPr/>
          <p:nvPr/>
        </p:nvSpPr>
        <p:spPr>
          <a:xfrm rot="-5400000" flipH="1">
            <a:off x="7231802" y="3265135"/>
            <a:ext cx="964903" cy="2291007"/>
          </a:xfrm>
          <a:prstGeom prst="round2DiagRect">
            <a:avLst>
              <a:gd name="adj1" fmla="val 492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6352134-A1E5-43E6-9396-1E1689AC44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9886654"/>
              </p:ext>
            </p:extLst>
          </p:nvPr>
        </p:nvGraphicFramePr>
        <p:xfrm>
          <a:off x="1670179" y="1071414"/>
          <a:ext cx="5150497" cy="300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906396" y="1405349"/>
            <a:ext cx="6436236" cy="11664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DESENHO METODOLÓGICO</a:t>
            </a:r>
            <a:endParaRPr lang="pt-AO" sz="3200" b="1" dirty="0"/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25"/>
            <a:chOff x="239725" y="258566"/>
            <a:chExt cx="8596750" cy="4626625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339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0AF8A99-EB26-4C43-AACD-CE7EBA91E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0272497"/>
              </p:ext>
            </p:extLst>
          </p:nvPr>
        </p:nvGraphicFramePr>
        <p:xfrm>
          <a:off x="594529" y="868934"/>
          <a:ext cx="795494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PT" sz="3200" b="1" dirty="0"/>
              <a:t>MÉTODO </a:t>
            </a:r>
            <a:r>
              <a:rPr lang="pt-BR" sz="3200" b="1" dirty="0"/>
              <a:t>EMPÍRICO </a:t>
            </a:r>
            <a:endParaRPr lang="pt-AO" sz="3200" b="1" dirty="0"/>
          </a:p>
        </p:txBody>
      </p:sp>
    </p:spTree>
    <p:extLst>
      <p:ext uri="{BB962C8B-B14F-4D97-AF65-F5344CB8AC3E}">
        <p14:creationId xmlns:p14="http://schemas.microsoft.com/office/powerpoint/2010/main" val="14235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0AF8A99-EB26-4C43-AACD-CE7EBA91E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440513"/>
              </p:ext>
            </p:extLst>
          </p:nvPr>
        </p:nvGraphicFramePr>
        <p:xfrm>
          <a:off x="594529" y="992802"/>
          <a:ext cx="7954942" cy="2741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BR" sz="3200" b="1" dirty="0"/>
              <a:t>REVISÃO DOCUMENTAL</a:t>
            </a:r>
            <a:endParaRPr lang="pt-AO" sz="3200" b="1" dirty="0"/>
          </a:p>
        </p:txBody>
      </p:sp>
    </p:spTree>
    <p:extLst>
      <p:ext uri="{BB962C8B-B14F-4D97-AF65-F5344CB8AC3E}">
        <p14:creationId xmlns:p14="http://schemas.microsoft.com/office/powerpoint/2010/main" val="181380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BR" sz="3200" b="1" dirty="0"/>
              <a:t>MODELAGEM</a:t>
            </a:r>
            <a:endParaRPr lang="pt-AO" sz="3200" b="1" dirty="0"/>
          </a:p>
        </p:txBody>
      </p:sp>
      <p:sp>
        <p:nvSpPr>
          <p:cNvPr id="5" name="Google Shape;264;p42">
            <a:extLst>
              <a:ext uri="{FF2B5EF4-FFF2-40B4-BE49-F238E27FC236}">
                <a16:creationId xmlns:a16="http://schemas.microsoft.com/office/drawing/2014/main" id="{7A4CBAB5-00E3-4921-B96F-028025F63F38}"/>
              </a:ext>
            </a:extLst>
          </p:cNvPr>
          <p:cNvSpPr txBox="1"/>
          <p:nvPr/>
        </p:nvSpPr>
        <p:spPr>
          <a:xfrm>
            <a:off x="530922" y="657226"/>
            <a:ext cx="8339328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pt-BR" sz="2000" dirty="0"/>
              <a:t>A modelagem do sistema será fundamentada nos dados obtidos durante a fase exploratória, utilizando diagramas de casos de uso, diagramas de entidade-relacionamento (DER) e fluxos operacionais que representarão graficamente a estrutura funcional, os dados e os processos que o sistema </a:t>
            </a:r>
            <a:r>
              <a:rPr lang="pt-BR" sz="2000" dirty="0" err="1"/>
              <a:t>SmartAccess</a:t>
            </a:r>
            <a:r>
              <a:rPr lang="pt-BR" sz="2000" dirty="0"/>
              <a:t> irá realizar.</a:t>
            </a:r>
            <a:endParaRPr lang="pt-AO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94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BR" sz="3200" b="1" dirty="0"/>
              <a:t>MODELAGEM</a:t>
            </a:r>
            <a:endParaRPr lang="pt-AO" sz="3200" b="1" dirty="0"/>
          </a:p>
        </p:txBody>
      </p:sp>
      <p:sp>
        <p:nvSpPr>
          <p:cNvPr id="5" name="Google Shape;264;p42">
            <a:extLst>
              <a:ext uri="{FF2B5EF4-FFF2-40B4-BE49-F238E27FC236}">
                <a16:creationId xmlns:a16="http://schemas.microsoft.com/office/drawing/2014/main" id="{7A4CBAB5-00E3-4921-B96F-028025F63F38}"/>
              </a:ext>
            </a:extLst>
          </p:cNvPr>
          <p:cNvSpPr txBox="1"/>
          <p:nvPr/>
        </p:nvSpPr>
        <p:spPr>
          <a:xfrm>
            <a:off x="530922" y="657226"/>
            <a:ext cx="8339328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endParaRPr lang="pt-AO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87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5620" y="755524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AO" sz="3200" b="1" dirty="0"/>
              <a:t>MÉTODO ESTATÍSTICO MATEMÁTICO</a:t>
            </a:r>
          </a:p>
        </p:txBody>
      </p:sp>
      <p:sp>
        <p:nvSpPr>
          <p:cNvPr id="5" name="Google Shape;264;p42">
            <a:extLst>
              <a:ext uri="{FF2B5EF4-FFF2-40B4-BE49-F238E27FC236}">
                <a16:creationId xmlns:a16="http://schemas.microsoft.com/office/drawing/2014/main" id="{7A4CBAB5-00E3-4921-B96F-028025F63F38}"/>
              </a:ext>
            </a:extLst>
          </p:cNvPr>
          <p:cNvSpPr txBox="1"/>
          <p:nvPr/>
        </p:nvSpPr>
        <p:spPr>
          <a:xfrm>
            <a:off x="530922" y="1397890"/>
            <a:ext cx="8339328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r>
              <a:rPr lang="pt-BR" sz="2000" dirty="0"/>
              <a:t>Será calculada a média dos dados quantitativos coletados, como número de presenças registradas por dia, tempo médio gasto para o registro manual, nível médio de satisfação dos usuários (estudantes e professores). Essa análise permitirá identificar padrões, avaliar o desempenho do método atual e medir melhorias após a implantação do sistema inteligente de reconhecimento facial, fornecendo uma base objetiva para tomada de decisões e ajustes no </a:t>
            </a:r>
            <a:r>
              <a:rPr lang="pt-BR" sz="2000" dirty="0" err="1"/>
              <a:t>SmartAccess</a:t>
            </a:r>
            <a:endParaRPr lang="pt-AO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72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/>
          <p:nvPr/>
        </p:nvSpPr>
        <p:spPr>
          <a:xfrm rot="-5400000">
            <a:off x="279752" y="2055450"/>
            <a:ext cx="2175900" cy="10326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5"/>
          <p:cNvSpPr txBox="1">
            <a:spLocks noGrp="1"/>
          </p:cNvSpPr>
          <p:nvPr>
            <p:ph type="title"/>
          </p:nvPr>
        </p:nvSpPr>
        <p:spPr>
          <a:xfrm>
            <a:off x="2118274" y="2325031"/>
            <a:ext cx="5831408" cy="8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/>
              <a:t>APRESENTAÇÃO DO SISTEMA 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8582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>
            <a:spLocks noGrp="1"/>
          </p:cNvSpPr>
          <p:nvPr>
            <p:ph type="title"/>
          </p:nvPr>
        </p:nvSpPr>
        <p:spPr>
          <a:xfrm>
            <a:off x="1642850" y="2240850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fontAlgn="base"/>
            <a:r>
              <a:rPr lang="pt-PT" sz="4000" b="1" dirty="0"/>
              <a:t>CONCLUSÃO</a:t>
            </a:r>
            <a:endParaRPr lang="pt-AO" sz="4000" b="1" dirty="0"/>
          </a:p>
        </p:txBody>
      </p:sp>
      <p:grpSp>
        <p:nvGrpSpPr>
          <p:cNvPr id="522" name="Google Shape;522;p56"/>
          <p:cNvGrpSpPr/>
          <p:nvPr/>
        </p:nvGrpSpPr>
        <p:grpSpPr>
          <a:xfrm>
            <a:off x="282650" y="375216"/>
            <a:ext cx="2720400" cy="4527050"/>
            <a:chOff x="282650" y="375216"/>
            <a:chExt cx="2720400" cy="4527050"/>
          </a:xfrm>
          <a:solidFill>
            <a:schemeClr val="tx1"/>
          </a:solidFill>
        </p:grpSpPr>
        <p:sp>
          <p:nvSpPr>
            <p:cNvPr id="523" name="Google Shape;523;p56"/>
            <p:cNvSpPr/>
            <p:nvPr/>
          </p:nvSpPr>
          <p:spPr>
            <a:xfrm rot="5400000">
              <a:off x="1059650" y="2958866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6"/>
            <p:cNvSpPr/>
            <p:nvPr/>
          </p:nvSpPr>
          <p:spPr>
            <a:xfrm rot="5400000" flipH="1">
              <a:off x="1059650" y="-40178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7018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conomy Major for College: Financial Management by Slidesgo">
  <a:themeElements>
    <a:clrScheme name="Simple Light">
      <a:dk1>
        <a:srgbClr val="233347"/>
      </a:dk1>
      <a:lt1>
        <a:srgbClr val="92AECE"/>
      </a:lt1>
      <a:dk2>
        <a:srgbClr val="F4F9FF"/>
      </a:dk2>
      <a:lt2>
        <a:srgbClr val="657F9E"/>
      </a:lt2>
      <a:accent1>
        <a:srgbClr val="C38080"/>
      </a:accent1>
      <a:accent2>
        <a:srgbClr val="E7A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3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707</Words>
  <Application>Microsoft Office PowerPoint</Application>
  <PresentationFormat>Apresentação na tela (16:9)</PresentationFormat>
  <Paragraphs>65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Bebas Neue</vt:lpstr>
      <vt:lpstr>Gothic A1 Medium</vt:lpstr>
      <vt:lpstr>Anaheim</vt:lpstr>
      <vt:lpstr>Roboto Mono Medium</vt:lpstr>
      <vt:lpstr>Alata</vt:lpstr>
      <vt:lpstr>Arial</vt:lpstr>
      <vt:lpstr>Economy Major for College: Financial Management by Slidesgo</vt:lpstr>
      <vt:lpstr>Instituto Superior Politécnico do Bié Departamento de Engenharias Curso de Engenharia Informática  Título Sistema Inteligente de Controle de Presença com Reconhecimento Facial no ISP-BIÉ   </vt:lpstr>
      <vt:lpstr>Este projeto propõe o desenvolvimento de um sistema inteligente de Reconhecimento Facial denominado “SmartAccess ISP-BIÉ”, e tem como objetivo melhorar a eficiência, segurança e controle da presença dos estudantes nas turmas e no recinto escolar. </vt:lpstr>
      <vt:lpstr>SITUAÇÕES PROBLEMÁTICAS: </vt:lpstr>
      <vt:lpstr>PROBLEMA CIENTÍFICO </vt:lpstr>
      <vt:lpstr>OBJECTO DE ESTUDO</vt:lpstr>
      <vt:lpstr>CAMPO DE ACÇÃO</vt:lpstr>
      <vt:lpstr>OBJECTIVO GERAL</vt:lpstr>
      <vt:lpstr>OBJECTIVOS ESPECÍFICOS </vt:lpstr>
      <vt:lpstr>HIPÓTESE </vt:lpstr>
      <vt:lpstr>VARIÁVEIS </vt:lpstr>
      <vt:lpstr>DESENHO METODOLÓGICO</vt:lpstr>
      <vt:lpstr>MÉTODO EMPÍRICO </vt:lpstr>
      <vt:lpstr>REVISÃO DOCUMENTAL</vt:lpstr>
      <vt:lpstr>MODELAGEM</vt:lpstr>
      <vt:lpstr>MODELAGEM</vt:lpstr>
      <vt:lpstr>MÉTODO ESTATÍSTICO MATEMÁTICO</vt:lpstr>
      <vt:lpstr>APRESENTAÇÃO DO SISTEMA 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SÍNODO PROVIANCIAL DO BIÉ INSTITUTO BÍBLICO   TRABALHO EM GRUPO DE LIDERANÇA II   TEMA:  COMO O CARÁCTER DESENVOLVE-SE O que Valorizamos, o que Servimos</dc:title>
  <dc:creator>JOAQUIM PAULO ALBERTO NANGAYAMALE</dc:creator>
  <cp:lastModifiedBy>JOAQUIM PAULO ALBERTO NANGAYAMALE</cp:lastModifiedBy>
  <cp:revision>63</cp:revision>
  <dcterms:modified xsi:type="dcterms:W3CDTF">2025-06-05T12:16:01Z</dcterms:modified>
</cp:coreProperties>
</file>