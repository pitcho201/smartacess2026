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62" r:id="rId1"/>
  </p:sldMasterIdLst>
  <p:sldIdLst>
    <p:sldId id="256" r:id="rId2"/>
    <p:sldId id="391" r:id="rId3"/>
    <p:sldId id="394" r:id="rId4"/>
    <p:sldId id="369" r:id="rId5"/>
    <p:sldId id="370" r:id="rId6"/>
    <p:sldId id="371" r:id="rId7"/>
    <p:sldId id="372" r:id="rId8"/>
    <p:sldId id="388" r:id="rId9"/>
    <p:sldId id="373" r:id="rId10"/>
    <p:sldId id="392" r:id="rId11"/>
    <p:sldId id="393" r:id="rId12"/>
    <p:sldId id="374" r:id="rId13"/>
    <p:sldId id="375" r:id="rId14"/>
    <p:sldId id="390" r:id="rId15"/>
    <p:sldId id="386" r:id="rId16"/>
    <p:sldId id="387" r:id="rId17"/>
    <p:sldId id="385" r:id="rId1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2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34FD02-F407-4269-B61E-15A127E17AF3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819A1C8E-CE6B-4671-9056-FC066CF7DF3C}">
      <dgm:prSet phldrT="[Texto]" custT="1"/>
      <dgm:spPr/>
      <dgm:t>
        <a:bodyPr/>
        <a:lstStyle/>
        <a:p>
          <a:r>
            <a:rPr lang="pt-BR" sz="3600" dirty="0">
              <a:latin typeface="Arial" panose="020B0604020202020204" pitchFamily="34" charset="0"/>
              <a:cs typeface="Arial" panose="020B0604020202020204" pitchFamily="34" charset="0"/>
            </a:rPr>
            <a:t>1. Ampliação do sistema para o recinto da Instituição </a:t>
          </a:r>
          <a:endParaRPr lang="pt-AO" sz="3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0D7657-2B87-40A5-9DAC-C62018F5E85F}" type="parTrans" cxnId="{9E61FD38-A55D-4F06-87E2-B7DFE9C2115B}">
      <dgm:prSet/>
      <dgm:spPr/>
      <dgm:t>
        <a:bodyPr/>
        <a:lstStyle/>
        <a:p>
          <a:endParaRPr lang="pt-AO"/>
        </a:p>
      </dgm:t>
    </dgm:pt>
    <dgm:pt modelId="{CDC3CD6C-BD68-496B-B0E9-04C8894D345C}" type="sibTrans" cxnId="{9E61FD38-A55D-4F06-87E2-B7DFE9C2115B}">
      <dgm:prSet/>
      <dgm:spPr/>
      <dgm:t>
        <a:bodyPr/>
        <a:lstStyle/>
        <a:p>
          <a:endParaRPr lang="pt-AO"/>
        </a:p>
      </dgm:t>
    </dgm:pt>
    <dgm:pt modelId="{F98227AD-A999-4532-AF38-A89DB149984A}">
      <dgm:prSet phldrT="[Texto]" custT="1"/>
      <dgm:spPr/>
      <dgm:t>
        <a:bodyPr/>
        <a:lstStyle/>
        <a:p>
          <a:pPr algn="just"/>
          <a:r>
            <a:rPr lang="pt-PT" sz="2400" dirty="0">
              <a:latin typeface="Arial" panose="020B0604020202020204" pitchFamily="34" charset="0"/>
              <a:cs typeface="Arial" panose="020B0604020202020204" pitchFamily="34" charset="0"/>
            </a:rPr>
            <a:t>Reaproveitar a base do sistema para controlar o acesso físico a zonas restritas e entradas ao recinto escolar, com sensores físicos integrados ao reconhecimento facial.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360F3A-DC18-4098-A11C-CF5273B6D752}" type="parTrans" cxnId="{ED0EC521-0E17-43AD-8B13-3612DAD202F3}">
      <dgm:prSet/>
      <dgm:spPr/>
      <dgm:t>
        <a:bodyPr/>
        <a:lstStyle/>
        <a:p>
          <a:endParaRPr lang="pt-AO"/>
        </a:p>
      </dgm:t>
    </dgm:pt>
    <dgm:pt modelId="{9F25F46C-49D1-49B7-9CBF-3F3E6629393F}" type="sibTrans" cxnId="{ED0EC521-0E17-43AD-8B13-3612DAD202F3}">
      <dgm:prSet/>
      <dgm:spPr/>
      <dgm:t>
        <a:bodyPr/>
        <a:lstStyle/>
        <a:p>
          <a:endParaRPr lang="pt-AO"/>
        </a:p>
      </dgm:t>
    </dgm:pt>
    <dgm:pt modelId="{3FC86558-A321-43A8-81E0-40461B19E697}">
      <dgm:prSet phldrT="[Texto]" custT="1"/>
      <dgm:spPr/>
      <dgm:t>
        <a:bodyPr/>
        <a:lstStyle/>
        <a:p>
          <a:r>
            <a:rPr lang="pt-BR" sz="3600" dirty="0">
              <a:latin typeface="Arial" panose="020B0604020202020204" pitchFamily="34" charset="0"/>
              <a:cs typeface="Arial" panose="020B0604020202020204" pitchFamily="34" charset="0"/>
            </a:rPr>
            <a:t>2. Integração com um outro Sistema Académico</a:t>
          </a:r>
          <a:endParaRPr lang="pt-AO" sz="3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C6D73D-DFBF-4A1C-9D34-A63B7B8F3316}" type="parTrans" cxnId="{FDAA7D22-11E1-44DC-9618-16E60A39CDEB}">
      <dgm:prSet/>
      <dgm:spPr/>
      <dgm:t>
        <a:bodyPr/>
        <a:lstStyle/>
        <a:p>
          <a:endParaRPr lang="pt-AO"/>
        </a:p>
      </dgm:t>
    </dgm:pt>
    <dgm:pt modelId="{E1034E94-AFAE-4D31-890D-0D38CCBCEDEB}" type="sibTrans" cxnId="{FDAA7D22-11E1-44DC-9618-16E60A39CDEB}">
      <dgm:prSet/>
      <dgm:spPr/>
      <dgm:t>
        <a:bodyPr/>
        <a:lstStyle/>
        <a:p>
          <a:endParaRPr lang="pt-AO"/>
        </a:p>
      </dgm:t>
    </dgm:pt>
    <dgm:pt modelId="{9D1251DA-D9B1-4AC9-8911-BDBBBA46CAC9}">
      <dgm:prSet phldrT="[Texto]" custT="1"/>
      <dgm:spPr/>
      <dgm:t>
        <a:bodyPr/>
        <a:lstStyle/>
        <a:p>
          <a:pPr algn="just"/>
          <a:r>
            <a:rPr lang="pt-PT" sz="2400" dirty="0">
              <a:latin typeface="Arial" panose="020B0604020202020204" pitchFamily="34" charset="0"/>
              <a:cs typeface="Arial" panose="020B0604020202020204" pitchFamily="34" charset="0"/>
            </a:rPr>
            <a:t>Unificar este sistema com um outro sistema acadêmico existente, automatizando também boletins, listas de presenças e relatórios.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F0D694-9DD2-4C04-AECA-DF5871712D1D}" type="parTrans" cxnId="{C27C4F51-0555-4192-A447-8B19A1471F14}">
      <dgm:prSet/>
      <dgm:spPr/>
      <dgm:t>
        <a:bodyPr/>
        <a:lstStyle/>
        <a:p>
          <a:endParaRPr lang="pt-AO"/>
        </a:p>
      </dgm:t>
    </dgm:pt>
    <dgm:pt modelId="{D3A252ED-7C1D-4EBE-9C4B-BEAB4F9C8252}" type="sibTrans" cxnId="{C27C4F51-0555-4192-A447-8B19A1471F14}">
      <dgm:prSet/>
      <dgm:spPr/>
      <dgm:t>
        <a:bodyPr/>
        <a:lstStyle/>
        <a:p>
          <a:endParaRPr lang="pt-AO"/>
        </a:p>
      </dgm:t>
    </dgm:pt>
    <dgm:pt modelId="{9214795D-193A-4BCD-9A27-34A602F83658}" type="pres">
      <dgm:prSet presAssocID="{3334FD02-F407-4269-B61E-15A127E17AF3}" presName="linear" presStyleCnt="0">
        <dgm:presLayoutVars>
          <dgm:animLvl val="lvl"/>
          <dgm:resizeHandles val="exact"/>
        </dgm:presLayoutVars>
      </dgm:prSet>
      <dgm:spPr/>
    </dgm:pt>
    <dgm:pt modelId="{C28901E7-2EDD-4988-A7B9-71131FA3824D}" type="pres">
      <dgm:prSet presAssocID="{819A1C8E-CE6B-4671-9056-FC066CF7DF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8083FAE-E055-4B38-8C81-C4A8B0B078BA}" type="pres">
      <dgm:prSet presAssocID="{819A1C8E-CE6B-4671-9056-FC066CF7DF3C}" presName="childText" presStyleLbl="revTx" presStyleIdx="0" presStyleCnt="2">
        <dgm:presLayoutVars>
          <dgm:bulletEnabled val="1"/>
        </dgm:presLayoutVars>
      </dgm:prSet>
      <dgm:spPr/>
    </dgm:pt>
    <dgm:pt modelId="{F6EB13CA-6233-499F-A880-F8EF17E7B8DE}" type="pres">
      <dgm:prSet presAssocID="{3FC86558-A321-43A8-81E0-40461B19E697}" presName="parentText" presStyleLbl="node1" presStyleIdx="1" presStyleCnt="2" custLinFactNeighborX="-261" custLinFactNeighborY="-3691">
        <dgm:presLayoutVars>
          <dgm:chMax val="0"/>
          <dgm:bulletEnabled val="1"/>
        </dgm:presLayoutVars>
      </dgm:prSet>
      <dgm:spPr/>
    </dgm:pt>
    <dgm:pt modelId="{62CFEB76-E4CC-4DCE-BDBC-E16AF6657F67}" type="pres">
      <dgm:prSet presAssocID="{3FC86558-A321-43A8-81E0-40461B19E69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7438F03-FCB1-4366-B675-F6FD0F5BD265}" type="presOf" srcId="{F98227AD-A999-4532-AF38-A89DB149984A}" destId="{08083FAE-E055-4B38-8C81-C4A8B0B078BA}" srcOrd="0" destOrd="0" presId="urn:microsoft.com/office/officeart/2005/8/layout/vList2"/>
    <dgm:cxn modelId="{ED0EC521-0E17-43AD-8B13-3612DAD202F3}" srcId="{819A1C8E-CE6B-4671-9056-FC066CF7DF3C}" destId="{F98227AD-A999-4532-AF38-A89DB149984A}" srcOrd="0" destOrd="0" parTransId="{52360F3A-DC18-4098-A11C-CF5273B6D752}" sibTransId="{9F25F46C-49D1-49B7-9CBF-3F3E6629393F}"/>
    <dgm:cxn modelId="{FDAA7D22-11E1-44DC-9618-16E60A39CDEB}" srcId="{3334FD02-F407-4269-B61E-15A127E17AF3}" destId="{3FC86558-A321-43A8-81E0-40461B19E697}" srcOrd="1" destOrd="0" parTransId="{B2C6D73D-DFBF-4A1C-9D34-A63B7B8F3316}" sibTransId="{E1034E94-AFAE-4D31-890D-0D38CCBCEDEB}"/>
    <dgm:cxn modelId="{9E61FD38-A55D-4F06-87E2-B7DFE9C2115B}" srcId="{3334FD02-F407-4269-B61E-15A127E17AF3}" destId="{819A1C8E-CE6B-4671-9056-FC066CF7DF3C}" srcOrd="0" destOrd="0" parTransId="{740D7657-2B87-40A5-9DAC-C62018F5E85F}" sibTransId="{CDC3CD6C-BD68-496B-B0E9-04C8894D345C}"/>
    <dgm:cxn modelId="{C27C4F51-0555-4192-A447-8B19A1471F14}" srcId="{3FC86558-A321-43A8-81E0-40461B19E697}" destId="{9D1251DA-D9B1-4AC9-8911-BDBBBA46CAC9}" srcOrd="0" destOrd="0" parTransId="{45F0D694-9DD2-4C04-AECA-DF5871712D1D}" sibTransId="{D3A252ED-7C1D-4EBE-9C4B-BEAB4F9C8252}"/>
    <dgm:cxn modelId="{A3151E74-318C-492C-8904-4DC423F9E619}" type="presOf" srcId="{3334FD02-F407-4269-B61E-15A127E17AF3}" destId="{9214795D-193A-4BCD-9A27-34A602F83658}" srcOrd="0" destOrd="0" presId="urn:microsoft.com/office/officeart/2005/8/layout/vList2"/>
    <dgm:cxn modelId="{3820AE8B-CA1E-4798-9B43-6E43F674FE70}" type="presOf" srcId="{9D1251DA-D9B1-4AC9-8911-BDBBBA46CAC9}" destId="{62CFEB76-E4CC-4DCE-BDBC-E16AF6657F67}" srcOrd="0" destOrd="0" presId="urn:microsoft.com/office/officeart/2005/8/layout/vList2"/>
    <dgm:cxn modelId="{1FFA6BB6-0AB7-4891-A8E6-FAE42B8D3C7E}" type="presOf" srcId="{3FC86558-A321-43A8-81E0-40461B19E697}" destId="{F6EB13CA-6233-499F-A880-F8EF17E7B8DE}" srcOrd="0" destOrd="0" presId="urn:microsoft.com/office/officeart/2005/8/layout/vList2"/>
    <dgm:cxn modelId="{DD4B41E2-6D0B-407B-B53D-5BCAE8B3AB5C}" type="presOf" srcId="{819A1C8E-CE6B-4671-9056-FC066CF7DF3C}" destId="{C28901E7-2EDD-4988-A7B9-71131FA3824D}" srcOrd="0" destOrd="0" presId="urn:microsoft.com/office/officeart/2005/8/layout/vList2"/>
    <dgm:cxn modelId="{3045CAAA-96A6-4374-A531-1AFAA8010721}" type="presParOf" srcId="{9214795D-193A-4BCD-9A27-34A602F83658}" destId="{C28901E7-2EDD-4988-A7B9-71131FA3824D}" srcOrd="0" destOrd="0" presId="urn:microsoft.com/office/officeart/2005/8/layout/vList2"/>
    <dgm:cxn modelId="{C0724B50-A09D-453B-9A55-51D8B844D61A}" type="presParOf" srcId="{9214795D-193A-4BCD-9A27-34A602F83658}" destId="{08083FAE-E055-4B38-8C81-C4A8B0B078BA}" srcOrd="1" destOrd="0" presId="urn:microsoft.com/office/officeart/2005/8/layout/vList2"/>
    <dgm:cxn modelId="{0C9C1E52-71F3-42B9-8177-CA8CE70CAD44}" type="presParOf" srcId="{9214795D-193A-4BCD-9A27-34A602F83658}" destId="{F6EB13CA-6233-499F-A880-F8EF17E7B8DE}" srcOrd="2" destOrd="0" presId="urn:microsoft.com/office/officeart/2005/8/layout/vList2"/>
    <dgm:cxn modelId="{F8798567-C079-4514-A240-B8FE92FFAF1F}" type="presParOf" srcId="{9214795D-193A-4BCD-9A27-34A602F83658}" destId="{62CFEB76-E4CC-4DCE-BDBC-E16AF6657F6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8901E7-2EDD-4988-A7B9-71131FA3824D}">
      <dsp:nvSpPr>
        <dsp:cNvPr id="0" name=""/>
        <dsp:cNvSpPr/>
      </dsp:nvSpPr>
      <dsp:spPr>
        <a:xfrm>
          <a:off x="0" y="4066"/>
          <a:ext cx="10515600" cy="1357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>
              <a:latin typeface="Arial" panose="020B0604020202020204" pitchFamily="34" charset="0"/>
              <a:cs typeface="Arial" panose="020B0604020202020204" pitchFamily="34" charset="0"/>
            </a:rPr>
            <a:t>1. Ampliação do sistema para o recinto da Instituição </a:t>
          </a:r>
          <a:endParaRPr lang="pt-AO" sz="3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253" y="70319"/>
        <a:ext cx="10383094" cy="1224694"/>
      </dsp:txXfrm>
    </dsp:sp>
    <dsp:sp modelId="{08083FAE-E055-4B38-8C81-C4A8B0B078BA}">
      <dsp:nvSpPr>
        <dsp:cNvPr id="0" name=""/>
        <dsp:cNvSpPr/>
      </dsp:nvSpPr>
      <dsp:spPr>
        <a:xfrm>
          <a:off x="0" y="1361266"/>
          <a:ext cx="10515600" cy="1020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400" kern="1200" dirty="0">
              <a:latin typeface="Arial" panose="020B0604020202020204" pitchFamily="34" charset="0"/>
              <a:cs typeface="Arial" panose="020B0604020202020204" pitchFamily="34" charset="0"/>
            </a:rPr>
            <a:t>Reaproveitar a base do sistema para controlar o acesso físico a zonas restritas e entradas ao recinto escolar, com sensores físicos integrados ao reconhecimento facial.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361266"/>
        <a:ext cx="10515600" cy="1020509"/>
      </dsp:txXfrm>
    </dsp:sp>
    <dsp:sp modelId="{F6EB13CA-6233-499F-A880-F8EF17E7B8DE}">
      <dsp:nvSpPr>
        <dsp:cNvPr id="0" name=""/>
        <dsp:cNvSpPr/>
      </dsp:nvSpPr>
      <dsp:spPr>
        <a:xfrm>
          <a:off x="0" y="2346325"/>
          <a:ext cx="10515600" cy="1357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>
              <a:latin typeface="Arial" panose="020B0604020202020204" pitchFamily="34" charset="0"/>
              <a:cs typeface="Arial" panose="020B0604020202020204" pitchFamily="34" charset="0"/>
            </a:rPr>
            <a:t>2. Integração com um outro Sistema Académico</a:t>
          </a:r>
          <a:endParaRPr lang="pt-AO" sz="3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253" y="2412578"/>
        <a:ext cx="10383094" cy="1224694"/>
      </dsp:txXfrm>
    </dsp:sp>
    <dsp:sp modelId="{62CFEB76-E4CC-4DCE-BDBC-E16AF6657F67}">
      <dsp:nvSpPr>
        <dsp:cNvPr id="0" name=""/>
        <dsp:cNvSpPr/>
      </dsp:nvSpPr>
      <dsp:spPr>
        <a:xfrm>
          <a:off x="0" y="3738977"/>
          <a:ext cx="10515600" cy="960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2400" kern="1200" dirty="0">
              <a:latin typeface="Arial" panose="020B0604020202020204" pitchFamily="34" charset="0"/>
              <a:cs typeface="Arial" panose="020B0604020202020204" pitchFamily="34" charset="0"/>
            </a:rPr>
            <a:t>Unificar este sistema com um outro sistema acadêmico existente, automatizando também boletins, listas de presenças e relatórios.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738977"/>
        <a:ext cx="10515600" cy="960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26414-CC46-03B7-3EC4-D51EFC6A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BC613-D502-1E95-603D-C9D1F0D58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4CADFB-874B-D405-0DFC-FC86A4AF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421762-F571-78CA-29FA-94E36370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C0F158-C563-44F2-1CF4-D1226758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872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ECA57-60F1-BF89-AB85-7093FBB6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EBD469-3D06-817D-C674-107C17510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D1878C-466F-CB61-DC07-9941E067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AD1421-CFA5-1604-8621-0F0965B9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78CD86-B0D4-5922-8DA9-EB4C6A58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88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D89E9-BDE4-173D-CA06-E0587EF7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65127D-5415-1EAE-3792-5F3F96D2D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87CBA-B9E0-2BEF-834B-1C97474B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E04459-6FCF-FA1C-D461-CD0C01DD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2A244-7DF8-26DA-50EE-D2771E7F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1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9B54A-73B8-4CD3-78AA-B2D5BBA9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60D953-FCFE-5B10-5A0B-68A138807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F8E15-689F-EC18-0596-B7C253D49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BA827C-D8C9-CE3D-0171-D89222A3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F61E45-0469-16EC-0790-DE25C0C8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9DE0C6-21E9-7869-A6E2-282E0856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965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2B09A-0252-40AA-98A8-4D2000FE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9164E5-D5BA-827F-6B16-E261CB01D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F478AF-729C-6DA9-D259-AC79EE6BF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A118411-544C-6E03-A403-A2565E2A3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A15AA7-D61B-42C9-27D2-684F00169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522552-D613-01C3-3344-F0805F9F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45F566-9EDE-5D2A-0D84-A99A8F6A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F9AED6-50DF-2CD8-066A-15CA1634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3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7F171-474C-6E42-F71D-78EFDA02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6CE27A-412D-1C3F-2937-C18EA2D07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2C8B41-B156-175B-EFC7-B94B4ADE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8C3579-6DAD-D78A-6348-AA48A40D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43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90DF13-956E-33CC-B843-737C87EF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5AD2F4-EF20-EF17-A0B1-B83CDA35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23C362-6D0A-3DAF-511D-B939EBBF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9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9F462-5064-07A9-E056-22A919A3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DE924-1345-7564-D62A-67EF51B2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71491E-2CB8-533D-E42B-14E47BC93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B8760D-BED3-DF01-2C76-2695FE5F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878597-1A1E-9B23-6F00-ED2E7123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A5901C-1D6F-B7F5-FB39-11D325B8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45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68704-7ECE-ACAF-F0AB-17A9F402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301BB7-3593-3060-DEA5-A8CFA8306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2B354F-4BBC-7E43-0BED-E0582AD41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F92235-F038-8DB0-E383-BAEF48624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51FA68-8DCB-10BD-B1AB-8C59117F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28A7AE-FC82-901B-72F7-0E8BB49E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28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1F6DB-3DBF-5D45-7E24-C404338B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CBA3E4-83DA-9F08-A16A-18F6F614D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D8DB8E-88EC-F263-6C6B-7E24BF2E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C4213A-63F7-CF5D-40CF-77E5F32C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7221C2-0B1E-3859-6AC6-E452A844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37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3D4324-DB83-BE56-DACB-746B7B0BB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845340-1BEB-E3D3-3348-8264A6ABA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D225FD-5943-7C46-A883-A59797C2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82AF10-6CDC-8B29-70B3-1D0188C65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862EF7-81F7-41E1-2545-62957B37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80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EE90FA8-D859-46BD-3E17-0F4DB68A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EE99ED-56D5-DC60-B5BD-1E5115FEB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C139E-7A1B-2D0F-263A-EBF0211D2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7/1/2025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921B1F-15AD-AE69-D2F1-A5DDBB56A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C233FE-000C-4643-3BD4-9FD2456BE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8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24347" y="1460535"/>
            <a:ext cx="7475456" cy="601127"/>
          </a:xfrm>
        </p:spPr>
        <p:txBody>
          <a:bodyPr>
            <a:normAutofit fontScale="90000"/>
          </a:bodyPr>
          <a:lstStyle/>
          <a:p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Instituto Superior Politécnico do Bié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Departamento de Engenharias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Cusrso de Engenharia Informática</a:t>
            </a: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53944" y="2242907"/>
            <a:ext cx="9416262" cy="181264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709136" algn="just"/>
            <a:endParaRPr lang="pt-PT" sz="1350" b="1" dirty="0">
              <a:latin typeface="Times New Roman"/>
              <a:cs typeface="Times New Roman"/>
            </a:endParaRPr>
          </a:p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Titulo</a:t>
            </a:r>
          </a:p>
          <a:p>
            <a:r>
              <a:rPr lang="pt-PT" sz="2800" b="1" dirty="0">
                <a:latin typeface="Arial" panose="020B0604020202020204" pitchFamily="34" charset="0"/>
                <a:cs typeface="Arial" panose="020B0604020202020204" pitchFamily="34" charset="0"/>
              </a:rPr>
              <a:t>Sistema Inteligente de Reconhecimento Facial</a:t>
            </a:r>
            <a:endParaRPr lang="pt-P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44138" y="4209060"/>
            <a:ext cx="10113194" cy="150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Autor: Joaquim Paulo Alberto Nangayamale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O Docente da disciplina de Projecto de Software</a:t>
            </a:r>
          </a:p>
          <a:p>
            <a:pPr>
              <a:lnSpc>
                <a:spcPct val="150000"/>
              </a:lnSpc>
            </a:pP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MSc. Armindo Victorino Paciência, Eng.º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D8A6B4-8E34-9A9F-D9A6-33C603EB3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8" y="245003"/>
            <a:ext cx="2760975" cy="1630932"/>
          </a:xfrm>
          <a:prstGeom prst="rect">
            <a:avLst/>
          </a:prstGeom>
        </p:spPr>
      </p:pic>
      <p:grpSp>
        <p:nvGrpSpPr>
          <p:cNvPr id="10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11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12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13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5093" y="0"/>
            <a:ext cx="2524477" cy="17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92395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Sistema inteligente de reconhecimento facial, é um software de desenvolvido para automatizar o registro de presença dos estudantes no Instituto Superior Politécnico do Bié. A solução visa substituir métodos manuais, aumentar a segurança e melhorar o gerenciamento acadêmico e administrativo. </a:t>
            </a: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7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8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9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438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PMBOK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10705" y="1102424"/>
            <a:ext cx="10515600" cy="4715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AO" sz="2400" b="1" dirty="0">
                <a:latin typeface="Arial" panose="020B0604020202020204" pitchFamily="34" charset="0"/>
                <a:cs typeface="Arial" panose="020B0604020202020204" pitchFamily="34" charset="0"/>
              </a:rPr>
              <a:t>PMBOK 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(Project Management Body of Knowledge</a:t>
            </a:r>
            <a:r>
              <a:rPr lang="pt-AO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 é o guia de melhores práticas em gerenciamento de projetos publicado pelo Project Management Institute (PMI). Ele organiza o conhecimento de projeto em 5 grupos de processos e 10 áreas de conhecimento.</a:t>
            </a:r>
          </a:p>
          <a:p>
            <a:pPr lvl="0"/>
            <a:r>
              <a:rPr lang="pt-AO" sz="2400" b="1" dirty="0">
                <a:latin typeface="Arial" panose="020B0604020202020204" pitchFamily="34" charset="0"/>
                <a:cs typeface="Arial" panose="020B0604020202020204" pitchFamily="34" charset="0"/>
              </a:rPr>
              <a:t>Grupos de Processos</a:t>
            </a: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Iniciação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Planejamento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Execução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Monitoramento e Controle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Encerramento</a:t>
            </a:r>
          </a:p>
        </p:txBody>
      </p:sp>
      <p:grpSp>
        <p:nvGrpSpPr>
          <p:cNvPr id="5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7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8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9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18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Termo de Abertura do Projecto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071096"/>
            <a:ext cx="10515600" cy="47158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Objectivos</a:t>
            </a:r>
          </a:p>
          <a:p>
            <a:pPr marL="0" indent="0">
              <a:buNone/>
            </a:pP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Desenvolver e implementar um sistema inteligente de reconhecimento facial para registo automático de presenças no Instituto Superior Politécnico do Bié.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  <a:endParaRPr lang="pt-AO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Automatizar o controlo </a:t>
            </a: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 presença dos estudantes;</a:t>
            </a:r>
          </a:p>
          <a:p>
            <a:pPr lvl="0"/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Integrar uma interface de gestão administrativa com banco de dados;</a:t>
            </a:r>
          </a:p>
          <a:p>
            <a:pPr lvl="0"/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Reduzir fraudes em registos de presença;</a:t>
            </a:r>
          </a:p>
          <a:p>
            <a:pPr lvl="0"/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Garantir suporte técnico após a implantação;</a:t>
            </a:r>
          </a:p>
          <a:p>
            <a:pPr lvl="0"/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Promover formação dos utilizadores.</a:t>
            </a:r>
          </a:p>
          <a:p>
            <a:pPr marL="0" indent="0">
              <a:buNone/>
            </a:pPr>
            <a:endParaRPr lang="pt-AO" dirty="0"/>
          </a:p>
        </p:txBody>
      </p:sp>
      <p:grpSp>
        <p:nvGrpSpPr>
          <p:cNvPr id="5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7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8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9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9838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Justificativa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O sistema visa resolver falhas dos registos manuais de presença, melhorando a gestão académica com tecnologia acessível, segura e automatizada.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2022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Identificação de Parceiros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>
            <a:normAutofit/>
          </a:bodyPr>
          <a:lstStyle/>
          <a:p>
            <a:pPr lvl="0"/>
            <a:r>
              <a:rPr lang="pt-AO" sz="2400" b="1" dirty="0">
                <a:latin typeface="Arial" panose="020B0604020202020204" pitchFamily="34" charset="0"/>
                <a:cs typeface="Arial" panose="020B0604020202020204" pitchFamily="34" charset="0"/>
              </a:rPr>
              <a:t>Público-alvo: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 Direcção do ISP-Bié, estudantes e corpo docente;</a:t>
            </a:r>
          </a:p>
          <a:p>
            <a:pPr lvl="0"/>
            <a:r>
              <a:rPr lang="pt-AO" sz="2400" b="1" dirty="0">
                <a:latin typeface="Arial" panose="020B0604020202020204" pitchFamily="34" charset="0"/>
                <a:cs typeface="Arial" panose="020B0604020202020204" pitchFamily="34" charset="0"/>
              </a:rPr>
              <a:t>Patrocinadores: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 Direcção Administrativa do ISP-Bié;</a:t>
            </a:r>
          </a:p>
          <a:p>
            <a:pPr lvl="0"/>
            <a:r>
              <a:rPr lang="pt-AO" sz="2400" b="1" dirty="0">
                <a:latin typeface="Arial" panose="020B0604020202020204" pitchFamily="34" charset="0"/>
                <a:cs typeface="Arial" panose="020B0604020202020204" pitchFamily="34" charset="0"/>
              </a:rPr>
              <a:t>Parceiros: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 Coordenação de TI e fornecedores de equipamentos.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236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Planeamento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BBEE1C81-9AE9-4237-8CFF-D32B9BC15D8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668" t="28639" r="31081" b="10792"/>
          <a:stretch/>
        </p:blipFill>
        <p:spPr>
          <a:xfrm>
            <a:off x="1581272" y="1097938"/>
            <a:ext cx="8600696" cy="440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16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Escopo do Projecto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3704734"/>
          </a:xfrm>
        </p:spPr>
        <p:txBody>
          <a:bodyPr>
            <a:normAutofit/>
          </a:bodyPr>
          <a:lstStyle/>
          <a:p>
            <a:pPr lvl="0"/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Levantamento e Análise de Requisitos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Modelagem do Sistema</a:t>
            </a:r>
            <a:b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Criação de diagramas UML </a:t>
            </a:r>
          </a:p>
          <a:p>
            <a:pPr lvl="0"/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Desenvolvimento dos Módulos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Interface Amigável (Web)</a:t>
            </a:r>
          </a:p>
          <a:p>
            <a:pPr lvl="0"/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Testes de Software</a:t>
            </a:r>
          </a:p>
          <a:p>
            <a:pPr lvl="0"/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Documentação e Treinamento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6571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Estrutura Análitica do Projecto - EAP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800BAD8D-DA18-4779-9373-FF28B015910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824" t="23590" r="10709" b="15234"/>
          <a:stretch/>
        </p:blipFill>
        <p:spPr>
          <a:xfrm>
            <a:off x="2415596" y="1108566"/>
            <a:ext cx="7006281" cy="419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43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Dicionário da EAP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>
            <a:normAutofit/>
          </a:bodyPr>
          <a:lstStyle/>
          <a:p>
            <a:pPr lvl="0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Planejamento: Reuniões, levantamento de necessidades, cronograma.</a:t>
            </a:r>
            <a:endParaRPr lang="pt-AO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Desenvolvimento: Programação, interface, base de dados.</a:t>
            </a:r>
            <a:endParaRPr lang="pt-AO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Testes e validação: Testes e treinamentos.</a:t>
            </a:r>
            <a:endParaRPr lang="pt-AO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Lançamento: Implantação.</a:t>
            </a:r>
            <a:endParaRPr lang="pt-AO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Fecho do projeto: Entrega Final do Projeto</a:t>
            </a:r>
            <a:endParaRPr lang="pt-AO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878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Controlar o Escopo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157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Qualquer alteração será solicitada por escri to à equipe do projeto, discutida em reunião e autorizada pelo patrocinador. Um registo de mudanças será mantido.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1058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Validar o Escopo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A validação ocorrerá através da entrega de funcionalidades conforme descrito e testes presenciais com os utilizadores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principais</a:t>
            </a:r>
            <a:r>
              <a:rPr lang="pt-AO" sz="2400" dirty="0">
                <a:latin typeface="Arial" panose="020B0604020202020204" pitchFamily="34" charset="0"/>
                <a:cs typeface="Arial" panose="020B0604020202020204" pitchFamily="34" charset="0"/>
              </a:rPr>
              <a:t>. Um termo de aceite será assinado pela Direcção do ISP-Bié.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6420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Ferramentas e Técnicas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Ferramentas</a:t>
            </a:r>
          </a:p>
          <a:p>
            <a:pPr marL="0" indent="0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Técnicas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Entrevistas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questionários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63A76F3D-D88C-4C0B-898B-BF2A8D9A513A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782" y="1845377"/>
            <a:ext cx="2216706" cy="116650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DCB2BB6-5834-4601-BACF-7A6536AFA379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488" y="1501639"/>
            <a:ext cx="2378727" cy="151024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1968824-4E09-4CB8-AF0C-EF80733AB8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1509" y="1672801"/>
            <a:ext cx="1262534" cy="126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11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Demonstração das Ferramentas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Aqui minimiza a apresentação e faça a demonstração de no mínimo duas ferramentas de gestão de projectos...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Número de palavras deve estar entre 400 á 600.</a:t>
            </a: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715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Conclusões gerais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/>
          <a:lstStyle/>
          <a:p>
            <a:pPr marL="0" indent="0" algn="just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desenvolvimento do Sistema Inteligente de Reconhecimento Facial para o ISP-BIÉ representará um marco importante na modernização da gestão acadêmica da instituição.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3826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102091"/>
            <a:ext cx="10515600" cy="1006475"/>
          </a:xfrm>
        </p:spPr>
        <p:txBody>
          <a:bodyPr>
            <a:normAutofit/>
          </a:bodyPr>
          <a:lstStyle/>
          <a:p>
            <a:r>
              <a:rPr lang="pt-PT" sz="4000" b="1" dirty="0">
                <a:latin typeface="Arial" panose="020B0604020202020204" pitchFamily="34" charset="0"/>
                <a:cs typeface="Arial" panose="020B0604020202020204" pitchFamily="34" charset="0"/>
              </a:rPr>
              <a:t>Sugestões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350935"/>
          </a:xfrm>
        </p:spPr>
        <p:txBody>
          <a:bodyPr/>
          <a:lstStyle/>
          <a:p>
            <a:pPr marL="0" indent="0">
              <a:buNone/>
            </a:pP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Nota 2: Toda apresentação não poderá ser mais de 20 minutos e nem menos de 15 minutos.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5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6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7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7E74B2CC-FC59-422D-9DF6-25D44286EE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6014079"/>
              </p:ext>
            </p:extLst>
          </p:nvPr>
        </p:nvGraphicFramePr>
        <p:xfrm>
          <a:off x="838200" y="1108567"/>
          <a:ext cx="10515600" cy="4703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386538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24347" y="1460535"/>
            <a:ext cx="7475456" cy="601127"/>
          </a:xfrm>
        </p:spPr>
        <p:txBody>
          <a:bodyPr>
            <a:normAutofit fontScale="90000"/>
          </a:bodyPr>
          <a:lstStyle/>
          <a:p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Instituto Superior Politécnico do Bié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Departamento de Engenharias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Cusrso de Engenharia Informática</a:t>
            </a: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44138" y="4209060"/>
            <a:ext cx="101131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Autor: </a:t>
            </a: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xxxxxxxxxxxxxxxxxxxxxxxxxxx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O Docente da disciplina de Teste e Qualidade de Software</a:t>
            </a:r>
          </a:p>
          <a:p>
            <a:pPr>
              <a:lnSpc>
                <a:spcPct val="150000"/>
              </a:lnSpc>
            </a:pPr>
            <a:r>
              <a:rPr lang="pt-PT" sz="2400" dirty="0">
                <a:latin typeface="Arial" panose="020B0604020202020204" pitchFamily="34" charset="0"/>
                <a:cs typeface="Arial" panose="020B0604020202020204" pitchFamily="34" charset="0"/>
              </a:rPr>
              <a:t>MSc. Armindo Victorino Paciência, Eng.º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D8A6B4-8E34-9A9F-D9A6-33C603EB3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8" y="245003"/>
            <a:ext cx="2760975" cy="1630932"/>
          </a:xfrm>
          <a:prstGeom prst="rect">
            <a:avLst/>
          </a:prstGeom>
        </p:spPr>
      </p:pic>
      <p:grpSp>
        <p:nvGrpSpPr>
          <p:cNvPr id="10" name="Grupo 10"/>
          <p:cNvGrpSpPr/>
          <p:nvPr/>
        </p:nvGrpSpPr>
        <p:grpSpPr>
          <a:xfrm>
            <a:off x="810705" y="5758019"/>
            <a:ext cx="10680569" cy="1232263"/>
            <a:chOff x="1661961" y="5758019"/>
            <a:chExt cx="8426861" cy="1232263"/>
          </a:xfrm>
        </p:grpSpPr>
        <p:pic>
          <p:nvPicPr>
            <p:cNvPr id="11" name="Imagem 5">
              <a:extLst>
                <a:ext uri="{FF2B5EF4-FFF2-40B4-BE49-F238E27FC236}">
                  <a16:creationId xmlns:a16="http://schemas.microsoft.com/office/drawing/2014/main" id="{84EFF05B-8CD2-417C-9637-A4D94C0DE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1961" y="5812090"/>
              <a:ext cx="2532486" cy="906275"/>
            </a:xfrm>
            <a:prstGeom prst="rect">
              <a:avLst/>
            </a:prstGeom>
          </p:spPr>
        </p:pic>
        <p:pic>
          <p:nvPicPr>
            <p:cNvPr id="12" name="Imagem 6">
              <a:extLst>
                <a:ext uri="{FF2B5EF4-FFF2-40B4-BE49-F238E27FC236}">
                  <a16:creationId xmlns:a16="http://schemas.microsoft.com/office/drawing/2014/main" id="{ABD8A6B4-8E34-9A9F-D9A6-33C603EB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88657" y="5758019"/>
              <a:ext cx="1900165" cy="1232263"/>
            </a:xfrm>
            <a:prstGeom prst="rect">
              <a:avLst/>
            </a:prstGeom>
          </p:spPr>
        </p:pic>
        <p:pic>
          <p:nvPicPr>
            <p:cNvPr id="13" name="Imagen 13">
              <a:extLst>
                <a:ext uri="{FF2B5EF4-FFF2-40B4-BE49-F238E27FC236}">
                  <a16:creationId xmlns:a16="http://schemas.microsoft.com/office/drawing/2014/main" id="{7B261901-CFC5-4B52-8998-5FA6FB14C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799" y="6021707"/>
              <a:ext cx="3863507" cy="704889"/>
            </a:xfrm>
            <a:prstGeom prst="rect">
              <a:avLst/>
            </a:prstGeom>
          </p:spPr>
        </p:pic>
      </p:grpSp>
      <p:sp>
        <p:nvSpPr>
          <p:cNvPr id="14" name="Retângulo 13"/>
          <p:cNvSpPr/>
          <p:nvPr/>
        </p:nvSpPr>
        <p:spPr>
          <a:xfrm>
            <a:off x="1658394" y="2668881"/>
            <a:ext cx="88477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6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Adobe Arabic" panose="02040503050201020203" pitchFamily="18" charset="-78"/>
                <a:cs typeface="Adobe Arabic" panose="02040503050201020203" pitchFamily="18" charset="-78"/>
              </a:rPr>
              <a:t>MUITO   OBRIGADO!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5093" y="0"/>
            <a:ext cx="2524477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4944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26947</TotalTime>
  <Words>553</Words>
  <Application>Microsoft Office PowerPoint</Application>
  <PresentationFormat>Widescreen</PresentationFormat>
  <Paragraphs>72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Adobe Arabic</vt:lpstr>
      <vt:lpstr>Arial</vt:lpstr>
      <vt:lpstr>Calibri</vt:lpstr>
      <vt:lpstr>Calibri Light</vt:lpstr>
      <vt:lpstr>Times New Roman</vt:lpstr>
      <vt:lpstr>Tema do Office</vt:lpstr>
      <vt:lpstr>           Instituto Superior Politécnico do Bié Departamento de Engenharias Cusrso de Engenharia Informática  </vt:lpstr>
      <vt:lpstr>Introdução</vt:lpstr>
      <vt:lpstr>PMBOK</vt:lpstr>
      <vt:lpstr>Termo de Abertura do Projecto</vt:lpstr>
      <vt:lpstr>Justificativa</vt:lpstr>
      <vt:lpstr>Identificação de Parceiros</vt:lpstr>
      <vt:lpstr>Planeamento</vt:lpstr>
      <vt:lpstr>Escopo do Projecto</vt:lpstr>
      <vt:lpstr>Estrutura Análitica do Projecto - EAP</vt:lpstr>
      <vt:lpstr>Dicionário da EAP</vt:lpstr>
      <vt:lpstr>Controlar o Escopo</vt:lpstr>
      <vt:lpstr>Validar o Escopo</vt:lpstr>
      <vt:lpstr>Ferramentas e Técnicas</vt:lpstr>
      <vt:lpstr>Demonstração das Ferramentas</vt:lpstr>
      <vt:lpstr>Conclusões gerais</vt:lpstr>
      <vt:lpstr>Sugestões </vt:lpstr>
      <vt:lpstr>           Instituto Superior Politécnico do Bié Departamento de Engenharias Cusrso de Engenharia Informática  </vt:lpstr>
    </vt:vector>
  </TitlesOfParts>
  <Manager>Eng. Mendes Castanheiro António</Manager>
  <Company>MCA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Modelo</dc:title>
  <dc:creator>Wilfredo Falcón</dc:creator>
  <cp:lastModifiedBy>JOAQUIM PAULO ALBERTO NANGAYAMALE</cp:lastModifiedBy>
  <cp:revision>439</cp:revision>
  <dcterms:created xsi:type="dcterms:W3CDTF">2019-03-17T06:59:11Z</dcterms:created>
  <dcterms:modified xsi:type="dcterms:W3CDTF">2025-07-01T12:24:54Z</dcterms:modified>
</cp:coreProperties>
</file>