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62" r:id="rId1"/>
  </p:sldMasterIdLst>
  <p:sldIdLst>
    <p:sldId id="256" r:id="rId2"/>
    <p:sldId id="369" r:id="rId3"/>
    <p:sldId id="370" r:id="rId4"/>
    <p:sldId id="371" r:id="rId5"/>
    <p:sldId id="392" r:id="rId6"/>
    <p:sldId id="388" r:id="rId7"/>
    <p:sldId id="391" r:id="rId8"/>
    <p:sldId id="374" r:id="rId9"/>
    <p:sldId id="375" r:id="rId10"/>
    <p:sldId id="389" r:id="rId11"/>
    <p:sldId id="390" r:id="rId12"/>
    <p:sldId id="376" r:id="rId13"/>
    <p:sldId id="386" r:id="rId14"/>
    <p:sldId id="387" r:id="rId15"/>
    <p:sldId id="385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2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34FD02-F407-4269-B61E-15A127E17AF3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819A1C8E-CE6B-4671-9056-FC066CF7DF3C}">
      <dgm:prSet phldrT="[Texto]" custT="1"/>
      <dgm:spPr/>
      <dgm:t>
        <a:bodyPr/>
        <a:lstStyle/>
        <a:p>
          <a:r>
            <a:rPr lang="pt-BR" sz="3600" dirty="0">
              <a:latin typeface="Arial" panose="020B0604020202020204" pitchFamily="34" charset="0"/>
              <a:cs typeface="Arial" panose="020B0604020202020204" pitchFamily="34" charset="0"/>
            </a:rPr>
            <a:t>1. Ampliação do sistema para o recinto da Instituição </a:t>
          </a:r>
          <a:endParaRPr lang="pt-AO" sz="3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0D7657-2B87-40A5-9DAC-C62018F5E85F}" type="parTrans" cxnId="{9E61FD38-A55D-4F06-87E2-B7DFE9C2115B}">
      <dgm:prSet/>
      <dgm:spPr/>
      <dgm:t>
        <a:bodyPr/>
        <a:lstStyle/>
        <a:p>
          <a:endParaRPr lang="pt-AO"/>
        </a:p>
      </dgm:t>
    </dgm:pt>
    <dgm:pt modelId="{CDC3CD6C-BD68-496B-B0E9-04C8894D345C}" type="sibTrans" cxnId="{9E61FD38-A55D-4F06-87E2-B7DFE9C2115B}">
      <dgm:prSet/>
      <dgm:spPr/>
      <dgm:t>
        <a:bodyPr/>
        <a:lstStyle/>
        <a:p>
          <a:endParaRPr lang="pt-AO"/>
        </a:p>
      </dgm:t>
    </dgm:pt>
    <dgm:pt modelId="{F98227AD-A999-4532-AF38-A89DB149984A}">
      <dgm:prSet phldrT="[Texto]" custT="1"/>
      <dgm:spPr/>
      <dgm:t>
        <a:bodyPr/>
        <a:lstStyle/>
        <a:p>
          <a:pPr algn="just"/>
          <a:r>
            <a:rPr lang="pt-PT" sz="2400" dirty="0">
              <a:latin typeface="Arial" panose="020B0604020202020204" pitchFamily="34" charset="0"/>
              <a:cs typeface="Arial" panose="020B0604020202020204" pitchFamily="34" charset="0"/>
            </a:rPr>
            <a:t>Reaproveitar a base do sistema para controlar o acesso físico a zonas restritas e entradas ao recinto escolar, com sensores físicos integrados ao reconhecimento facial.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360F3A-DC18-4098-A11C-CF5273B6D752}" type="parTrans" cxnId="{ED0EC521-0E17-43AD-8B13-3612DAD202F3}">
      <dgm:prSet/>
      <dgm:spPr/>
      <dgm:t>
        <a:bodyPr/>
        <a:lstStyle/>
        <a:p>
          <a:endParaRPr lang="pt-AO"/>
        </a:p>
      </dgm:t>
    </dgm:pt>
    <dgm:pt modelId="{9F25F46C-49D1-49B7-9CBF-3F3E6629393F}" type="sibTrans" cxnId="{ED0EC521-0E17-43AD-8B13-3612DAD202F3}">
      <dgm:prSet/>
      <dgm:spPr/>
      <dgm:t>
        <a:bodyPr/>
        <a:lstStyle/>
        <a:p>
          <a:endParaRPr lang="pt-AO"/>
        </a:p>
      </dgm:t>
    </dgm:pt>
    <dgm:pt modelId="{3FC86558-A321-43A8-81E0-40461B19E697}">
      <dgm:prSet phldrT="[Texto]" custT="1"/>
      <dgm:spPr/>
      <dgm:t>
        <a:bodyPr/>
        <a:lstStyle/>
        <a:p>
          <a:r>
            <a:rPr lang="pt-BR" sz="3600" dirty="0">
              <a:latin typeface="Arial" panose="020B0604020202020204" pitchFamily="34" charset="0"/>
              <a:cs typeface="Arial" panose="020B0604020202020204" pitchFamily="34" charset="0"/>
            </a:rPr>
            <a:t>2. Integração com um outro Sistema Académico</a:t>
          </a:r>
          <a:endParaRPr lang="pt-AO" sz="3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C6D73D-DFBF-4A1C-9D34-A63B7B8F3316}" type="parTrans" cxnId="{FDAA7D22-11E1-44DC-9618-16E60A39CDEB}">
      <dgm:prSet/>
      <dgm:spPr/>
      <dgm:t>
        <a:bodyPr/>
        <a:lstStyle/>
        <a:p>
          <a:endParaRPr lang="pt-AO"/>
        </a:p>
      </dgm:t>
    </dgm:pt>
    <dgm:pt modelId="{E1034E94-AFAE-4D31-890D-0D38CCBCEDEB}" type="sibTrans" cxnId="{FDAA7D22-11E1-44DC-9618-16E60A39CDEB}">
      <dgm:prSet/>
      <dgm:spPr/>
      <dgm:t>
        <a:bodyPr/>
        <a:lstStyle/>
        <a:p>
          <a:endParaRPr lang="pt-AO"/>
        </a:p>
      </dgm:t>
    </dgm:pt>
    <dgm:pt modelId="{9D1251DA-D9B1-4AC9-8911-BDBBBA46CAC9}">
      <dgm:prSet phldrT="[Texto]" custT="1"/>
      <dgm:spPr/>
      <dgm:t>
        <a:bodyPr/>
        <a:lstStyle/>
        <a:p>
          <a:pPr algn="just"/>
          <a:r>
            <a:rPr lang="pt-PT" sz="2400" dirty="0">
              <a:latin typeface="Arial" panose="020B0604020202020204" pitchFamily="34" charset="0"/>
              <a:cs typeface="Arial" panose="020B0604020202020204" pitchFamily="34" charset="0"/>
            </a:rPr>
            <a:t>Unificar este sistema com um outro sistema acadêmico existente, automatizando também boletins, listas de presenças e relatórios.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F0D694-9DD2-4C04-AECA-DF5871712D1D}" type="parTrans" cxnId="{C27C4F51-0555-4192-A447-8B19A1471F14}">
      <dgm:prSet/>
      <dgm:spPr/>
      <dgm:t>
        <a:bodyPr/>
        <a:lstStyle/>
        <a:p>
          <a:endParaRPr lang="pt-AO"/>
        </a:p>
      </dgm:t>
    </dgm:pt>
    <dgm:pt modelId="{D3A252ED-7C1D-4EBE-9C4B-BEAB4F9C8252}" type="sibTrans" cxnId="{C27C4F51-0555-4192-A447-8B19A1471F14}">
      <dgm:prSet/>
      <dgm:spPr/>
      <dgm:t>
        <a:bodyPr/>
        <a:lstStyle/>
        <a:p>
          <a:endParaRPr lang="pt-AO"/>
        </a:p>
      </dgm:t>
    </dgm:pt>
    <dgm:pt modelId="{9214795D-193A-4BCD-9A27-34A602F83658}" type="pres">
      <dgm:prSet presAssocID="{3334FD02-F407-4269-B61E-15A127E17AF3}" presName="linear" presStyleCnt="0">
        <dgm:presLayoutVars>
          <dgm:animLvl val="lvl"/>
          <dgm:resizeHandles val="exact"/>
        </dgm:presLayoutVars>
      </dgm:prSet>
      <dgm:spPr/>
    </dgm:pt>
    <dgm:pt modelId="{C28901E7-2EDD-4988-A7B9-71131FA3824D}" type="pres">
      <dgm:prSet presAssocID="{819A1C8E-CE6B-4671-9056-FC066CF7DF3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8083FAE-E055-4B38-8C81-C4A8B0B078BA}" type="pres">
      <dgm:prSet presAssocID="{819A1C8E-CE6B-4671-9056-FC066CF7DF3C}" presName="childText" presStyleLbl="revTx" presStyleIdx="0" presStyleCnt="2">
        <dgm:presLayoutVars>
          <dgm:bulletEnabled val="1"/>
        </dgm:presLayoutVars>
      </dgm:prSet>
      <dgm:spPr/>
    </dgm:pt>
    <dgm:pt modelId="{F6EB13CA-6233-499F-A880-F8EF17E7B8DE}" type="pres">
      <dgm:prSet presAssocID="{3FC86558-A321-43A8-81E0-40461B19E697}" presName="parentText" presStyleLbl="node1" presStyleIdx="1" presStyleCnt="2" custLinFactNeighborX="-261" custLinFactNeighborY="-3691">
        <dgm:presLayoutVars>
          <dgm:chMax val="0"/>
          <dgm:bulletEnabled val="1"/>
        </dgm:presLayoutVars>
      </dgm:prSet>
      <dgm:spPr/>
    </dgm:pt>
    <dgm:pt modelId="{62CFEB76-E4CC-4DCE-BDBC-E16AF6657F67}" type="pres">
      <dgm:prSet presAssocID="{3FC86558-A321-43A8-81E0-40461B19E69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7438F03-FCB1-4366-B675-F6FD0F5BD265}" type="presOf" srcId="{F98227AD-A999-4532-AF38-A89DB149984A}" destId="{08083FAE-E055-4B38-8C81-C4A8B0B078BA}" srcOrd="0" destOrd="0" presId="urn:microsoft.com/office/officeart/2005/8/layout/vList2"/>
    <dgm:cxn modelId="{ED0EC521-0E17-43AD-8B13-3612DAD202F3}" srcId="{819A1C8E-CE6B-4671-9056-FC066CF7DF3C}" destId="{F98227AD-A999-4532-AF38-A89DB149984A}" srcOrd="0" destOrd="0" parTransId="{52360F3A-DC18-4098-A11C-CF5273B6D752}" sibTransId="{9F25F46C-49D1-49B7-9CBF-3F3E6629393F}"/>
    <dgm:cxn modelId="{FDAA7D22-11E1-44DC-9618-16E60A39CDEB}" srcId="{3334FD02-F407-4269-B61E-15A127E17AF3}" destId="{3FC86558-A321-43A8-81E0-40461B19E697}" srcOrd="1" destOrd="0" parTransId="{B2C6D73D-DFBF-4A1C-9D34-A63B7B8F3316}" sibTransId="{E1034E94-AFAE-4D31-890D-0D38CCBCEDEB}"/>
    <dgm:cxn modelId="{9E61FD38-A55D-4F06-87E2-B7DFE9C2115B}" srcId="{3334FD02-F407-4269-B61E-15A127E17AF3}" destId="{819A1C8E-CE6B-4671-9056-FC066CF7DF3C}" srcOrd="0" destOrd="0" parTransId="{740D7657-2B87-40A5-9DAC-C62018F5E85F}" sibTransId="{CDC3CD6C-BD68-496B-B0E9-04C8894D345C}"/>
    <dgm:cxn modelId="{C27C4F51-0555-4192-A447-8B19A1471F14}" srcId="{3FC86558-A321-43A8-81E0-40461B19E697}" destId="{9D1251DA-D9B1-4AC9-8911-BDBBBA46CAC9}" srcOrd="0" destOrd="0" parTransId="{45F0D694-9DD2-4C04-AECA-DF5871712D1D}" sibTransId="{D3A252ED-7C1D-4EBE-9C4B-BEAB4F9C8252}"/>
    <dgm:cxn modelId="{A3151E74-318C-492C-8904-4DC423F9E619}" type="presOf" srcId="{3334FD02-F407-4269-B61E-15A127E17AF3}" destId="{9214795D-193A-4BCD-9A27-34A602F83658}" srcOrd="0" destOrd="0" presId="urn:microsoft.com/office/officeart/2005/8/layout/vList2"/>
    <dgm:cxn modelId="{3820AE8B-CA1E-4798-9B43-6E43F674FE70}" type="presOf" srcId="{9D1251DA-D9B1-4AC9-8911-BDBBBA46CAC9}" destId="{62CFEB76-E4CC-4DCE-BDBC-E16AF6657F67}" srcOrd="0" destOrd="0" presId="urn:microsoft.com/office/officeart/2005/8/layout/vList2"/>
    <dgm:cxn modelId="{1FFA6BB6-0AB7-4891-A8E6-FAE42B8D3C7E}" type="presOf" srcId="{3FC86558-A321-43A8-81E0-40461B19E697}" destId="{F6EB13CA-6233-499F-A880-F8EF17E7B8DE}" srcOrd="0" destOrd="0" presId="urn:microsoft.com/office/officeart/2005/8/layout/vList2"/>
    <dgm:cxn modelId="{DD4B41E2-6D0B-407B-B53D-5BCAE8B3AB5C}" type="presOf" srcId="{819A1C8E-CE6B-4671-9056-FC066CF7DF3C}" destId="{C28901E7-2EDD-4988-A7B9-71131FA3824D}" srcOrd="0" destOrd="0" presId="urn:microsoft.com/office/officeart/2005/8/layout/vList2"/>
    <dgm:cxn modelId="{3045CAAA-96A6-4374-A531-1AFAA8010721}" type="presParOf" srcId="{9214795D-193A-4BCD-9A27-34A602F83658}" destId="{C28901E7-2EDD-4988-A7B9-71131FA3824D}" srcOrd="0" destOrd="0" presId="urn:microsoft.com/office/officeart/2005/8/layout/vList2"/>
    <dgm:cxn modelId="{C0724B50-A09D-453B-9A55-51D8B844D61A}" type="presParOf" srcId="{9214795D-193A-4BCD-9A27-34A602F83658}" destId="{08083FAE-E055-4B38-8C81-C4A8B0B078BA}" srcOrd="1" destOrd="0" presId="urn:microsoft.com/office/officeart/2005/8/layout/vList2"/>
    <dgm:cxn modelId="{0C9C1E52-71F3-42B9-8177-CA8CE70CAD44}" type="presParOf" srcId="{9214795D-193A-4BCD-9A27-34A602F83658}" destId="{F6EB13CA-6233-499F-A880-F8EF17E7B8DE}" srcOrd="2" destOrd="0" presId="urn:microsoft.com/office/officeart/2005/8/layout/vList2"/>
    <dgm:cxn modelId="{F8798567-C079-4514-A240-B8FE92FFAF1F}" type="presParOf" srcId="{9214795D-193A-4BCD-9A27-34A602F83658}" destId="{62CFEB76-E4CC-4DCE-BDBC-E16AF6657F6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901E7-2EDD-4988-A7B9-71131FA3824D}">
      <dsp:nvSpPr>
        <dsp:cNvPr id="0" name=""/>
        <dsp:cNvSpPr/>
      </dsp:nvSpPr>
      <dsp:spPr>
        <a:xfrm>
          <a:off x="0" y="4066"/>
          <a:ext cx="10515600" cy="1357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>
              <a:latin typeface="Arial" panose="020B0604020202020204" pitchFamily="34" charset="0"/>
              <a:cs typeface="Arial" panose="020B0604020202020204" pitchFamily="34" charset="0"/>
            </a:rPr>
            <a:t>1. Ampliação do sistema para o recinto da Instituição </a:t>
          </a:r>
          <a:endParaRPr lang="pt-AO" sz="3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253" y="70319"/>
        <a:ext cx="10383094" cy="1224694"/>
      </dsp:txXfrm>
    </dsp:sp>
    <dsp:sp modelId="{08083FAE-E055-4B38-8C81-C4A8B0B078BA}">
      <dsp:nvSpPr>
        <dsp:cNvPr id="0" name=""/>
        <dsp:cNvSpPr/>
      </dsp:nvSpPr>
      <dsp:spPr>
        <a:xfrm>
          <a:off x="0" y="1361266"/>
          <a:ext cx="10515600" cy="1020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400" kern="1200" dirty="0">
              <a:latin typeface="Arial" panose="020B0604020202020204" pitchFamily="34" charset="0"/>
              <a:cs typeface="Arial" panose="020B0604020202020204" pitchFamily="34" charset="0"/>
            </a:rPr>
            <a:t>Reaproveitar a base do sistema para controlar o acesso físico a zonas restritas e entradas ao recinto escolar, com sensores físicos integrados ao reconhecimento facial.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361266"/>
        <a:ext cx="10515600" cy="1020509"/>
      </dsp:txXfrm>
    </dsp:sp>
    <dsp:sp modelId="{F6EB13CA-6233-499F-A880-F8EF17E7B8DE}">
      <dsp:nvSpPr>
        <dsp:cNvPr id="0" name=""/>
        <dsp:cNvSpPr/>
      </dsp:nvSpPr>
      <dsp:spPr>
        <a:xfrm>
          <a:off x="0" y="2346325"/>
          <a:ext cx="10515600" cy="1357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>
              <a:latin typeface="Arial" panose="020B0604020202020204" pitchFamily="34" charset="0"/>
              <a:cs typeface="Arial" panose="020B0604020202020204" pitchFamily="34" charset="0"/>
            </a:rPr>
            <a:t>2. Integração com um outro Sistema Académico</a:t>
          </a:r>
          <a:endParaRPr lang="pt-AO" sz="3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253" y="2412578"/>
        <a:ext cx="10383094" cy="1224694"/>
      </dsp:txXfrm>
    </dsp:sp>
    <dsp:sp modelId="{62CFEB76-E4CC-4DCE-BDBC-E16AF6657F67}">
      <dsp:nvSpPr>
        <dsp:cNvPr id="0" name=""/>
        <dsp:cNvSpPr/>
      </dsp:nvSpPr>
      <dsp:spPr>
        <a:xfrm>
          <a:off x="0" y="3738977"/>
          <a:ext cx="10515600" cy="960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400" kern="1200" dirty="0">
              <a:latin typeface="Arial" panose="020B0604020202020204" pitchFamily="34" charset="0"/>
              <a:cs typeface="Arial" panose="020B0604020202020204" pitchFamily="34" charset="0"/>
            </a:rPr>
            <a:t>Unificar este sistema com um outro sistema acadêmico existente, automatizando também boletins, listas de presenças e relatórios.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738977"/>
        <a:ext cx="10515600" cy="960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26414-CC46-03B7-3EC4-D51EFC6AB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BC613-D502-1E95-603D-C9D1F0D58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4CADFB-874B-D405-0DFC-FC86A4AF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421762-F571-78CA-29FA-94E36370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C0F158-C563-44F2-1CF4-D1226758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872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ECA57-60F1-BF89-AB85-7093FBB6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EBD469-3D06-817D-C674-107C17510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D1878C-466F-CB61-DC07-9941E067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AD1421-CFA5-1604-8621-0F0965B9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78CD86-B0D4-5922-8DA9-EB4C6A58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88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D89E9-BDE4-173D-CA06-E0587EF75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65127D-5415-1EAE-3792-5F3F96D2D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F87CBA-B9E0-2BEF-834B-1C97474B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E04459-6FCF-FA1C-D461-CD0C01DD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52A244-7DF8-26DA-50EE-D2771E7F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51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9B54A-73B8-4CD3-78AA-B2D5BBA9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60D953-FCFE-5B10-5A0B-68A138807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F8E15-689F-EC18-0596-B7C253D49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BA827C-D8C9-CE3D-0171-D89222A37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F61E45-0469-16EC-0790-DE25C0C8F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9DE0C6-21E9-7869-A6E2-282E0856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965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2B09A-0252-40AA-98A8-4D2000FE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9164E5-D5BA-827F-6B16-E261CB01D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F478AF-729C-6DA9-D259-AC79EE6BF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A118411-544C-6E03-A403-A2565E2A3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A15AA7-D61B-42C9-27D2-684F00169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522552-D613-01C3-3344-F0805F9FD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45F566-9EDE-5D2A-0D84-A99A8F6A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F9AED6-50DF-2CD8-066A-15CA1634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53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7F171-474C-6E42-F71D-78EFDA02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6CE27A-412D-1C3F-2937-C18EA2D07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2C8B41-B156-175B-EFC7-B94B4ADE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8C3579-6DAD-D78A-6348-AA48A40D1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43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90DF13-956E-33CC-B843-737C87EF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5AD2F4-EF20-EF17-A0B1-B83CDA35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23C362-6D0A-3DAF-511D-B939EBBF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9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9F462-5064-07A9-E056-22A919A3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DE924-1345-7564-D62A-67EF51B2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71491E-2CB8-533D-E42B-14E47BC93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B8760D-BED3-DF01-2C76-2695FE5F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878597-1A1E-9B23-6F00-ED2E7123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A5901C-1D6F-B7F5-FB39-11D325B8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45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68704-7ECE-ACAF-F0AB-17A9F4026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2301BB7-3593-3060-DEA5-A8CFA8306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2B354F-4BBC-7E43-0BED-E0582AD41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F92235-F038-8DB0-E383-BAEF48624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51FA68-8DCB-10BD-B1AB-8C59117F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28A7AE-FC82-901B-72F7-0E8BB49E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28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1F6DB-3DBF-5D45-7E24-C404338B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CBA3E4-83DA-9F08-A16A-18F6F614D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D8DB8E-88EC-F263-6C6B-7E24BF2E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C4213A-63F7-CF5D-40CF-77E5F32C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7221C2-0B1E-3859-6AC6-E452A844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37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3D4324-DB83-BE56-DACB-746B7B0BB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845340-1BEB-E3D3-3348-8264A6ABA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D225FD-5943-7C46-A883-A59797C2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82AF10-6CDC-8B29-70B3-1D0188C65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862EF7-81F7-41E1-2545-62957B37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80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EE90FA8-D859-46BD-3E17-0F4DB68A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EE99ED-56D5-DC60-B5BD-1E5115FEB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C139E-7A1B-2D0F-263A-EBF0211D2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921B1F-15AD-AE69-D2F1-A5DDBB56A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C233FE-000C-4643-3BD4-9FD2456BE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78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eg"/><Relationship Id="rId3" Type="http://schemas.openxmlformats.org/officeDocument/2006/relationships/image" Target="../media/image1.png"/><Relationship Id="rId7" Type="http://schemas.openxmlformats.org/officeDocument/2006/relationships/image" Target="../media/image7.jp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24347" y="1460535"/>
            <a:ext cx="7475456" cy="601127"/>
          </a:xfrm>
        </p:spPr>
        <p:txBody>
          <a:bodyPr>
            <a:normAutofit fontScale="90000"/>
          </a:bodyPr>
          <a:lstStyle/>
          <a:p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  <a:t>Instituto Superior Politécnico do Bié</a:t>
            </a:r>
            <a:b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  <a:t>Departamento de Engenharias</a:t>
            </a:r>
            <a:b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Cusrso de Engenharia Informática</a:t>
            </a: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47423" y="2061662"/>
            <a:ext cx="9416262" cy="181264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709136" algn="just"/>
            <a:endParaRPr lang="pt-PT" sz="1350" b="1" dirty="0">
              <a:latin typeface="Times New Roman"/>
              <a:cs typeface="Times New Roman"/>
            </a:endParaRPr>
          </a:p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Titulo</a:t>
            </a:r>
          </a:p>
          <a:p>
            <a:r>
              <a:rPr lang="pt-PT" sz="2800" b="1" dirty="0">
                <a:latin typeface="Arial" panose="020B0604020202020204" pitchFamily="34" charset="0"/>
                <a:cs typeface="Arial" panose="020B0604020202020204" pitchFamily="34" charset="0"/>
              </a:rPr>
              <a:t>Sistema Inteligente de Reconhecimento Facial para o ISP-BIÉ</a:t>
            </a:r>
            <a:endParaRPr lang="pt-PT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44138" y="4209060"/>
            <a:ext cx="10113194" cy="150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Autor: Joaquim Paulo Alberto Nangayamale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O Docente da disciplina de Teste e Qualidade de Software</a:t>
            </a:r>
          </a:p>
          <a:p>
            <a:pPr>
              <a:lnSpc>
                <a:spcPct val="150000"/>
              </a:lnSpc>
            </a:pPr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MSc. Armindo Victorino Paciência, Eng.º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D8A6B4-8E34-9A9F-D9A6-33C603EB3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8" y="245003"/>
            <a:ext cx="2760975" cy="1630932"/>
          </a:xfrm>
          <a:prstGeom prst="rect">
            <a:avLst/>
          </a:prstGeom>
        </p:spPr>
      </p:pic>
      <p:grpSp>
        <p:nvGrpSpPr>
          <p:cNvPr id="10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11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12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13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1026" name="Picture 2" descr="Desenvolver software com qualidade demora? - Guia dev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414" y="142363"/>
            <a:ext cx="2573518" cy="15921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92395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Contextualização</a:t>
            </a:r>
          </a:p>
          <a:p>
            <a:pPr marL="0" indent="0" algn="just">
              <a:buNone/>
            </a:pPr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Este projeto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foca</a:t>
            </a:r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 na abordagem de desafios enfrentados pelo Instituto Superior Politécnico do Bié (ISP-BIÉ) em relação ao controle de presença dos estudantes. Atualmente, a instituição carece de um sistema informático para essa finalidade, o que acarreta a ausência de relatórios informatizados e a facilidade de fraudes no método de controle de presença existente.</a:t>
            </a:r>
          </a:p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  <a:p>
            <a:pPr marL="0" indent="0">
              <a:buNone/>
            </a:pPr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Como um sistema inteligente de reconhecimento facial pode melhorar o controle de presença dos estudantes no ISP-BIÉ?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7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8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9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983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207232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b="1" dirty="0" err="1">
                <a:latin typeface="Arial" panose="020B0604020202020204" pitchFamily="34" charset="0"/>
                <a:cs typeface="Arial" panose="020B0604020202020204" pitchFamily="34" charset="0"/>
              </a:rPr>
              <a:t>Objectivos</a:t>
            </a:r>
            <a:endParaRPr lang="pt-AO" dirty="0"/>
          </a:p>
          <a:p>
            <a:pPr marL="0" indent="0">
              <a:buNone/>
            </a:pP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O objetivo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geral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 deste projeto é desenvolver e implementar um sistema inteligente de reconhecimento facial para o controle de presença dos estudantes no ISP-BIÉ.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PT" b="1" dirty="0" err="1">
                <a:latin typeface="Arial" panose="020B0604020202020204" pitchFamily="34" charset="0"/>
                <a:cs typeface="Arial" panose="020B0604020202020204" pitchFamily="34" charset="0"/>
              </a:rPr>
              <a:t>Objectivos</a:t>
            </a: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 específicos</a:t>
            </a:r>
          </a:p>
          <a:p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Fundamentar os antecedentes históricos dos sistemas de controle de presença baseados em reconhecimento facial.</a:t>
            </a:r>
          </a:p>
          <a:p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Implementar o sistema inteligente de reconhecimento facial para o controle de presença dos estudantes no ISP-BIÉ.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Avaliar a eficiência do sistema em termos de precisão no reconhecimento e melhoria da gestão de presença dos estudantes.</a:t>
            </a:r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202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Metodologia utilizadas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Para o desenvolvimento d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 sistema, adot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ou-se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 a metodologia </a:t>
            </a:r>
            <a:r>
              <a:rPr lang="pt-AO" sz="2400" b="1" dirty="0">
                <a:latin typeface="Arial" panose="020B0604020202020204" pitchFamily="34" charset="0"/>
                <a:cs typeface="Arial" panose="020B0604020202020204" pitchFamily="34" charset="0"/>
              </a:rPr>
              <a:t>Extreme Programming (XP)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, uma abordagem ágil que visa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aumentar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 a produtividade da equipe de desenvolvimento por meio de </a:t>
            </a:r>
            <a:r>
              <a:rPr lang="pt-AO" sz="2400" b="1" dirty="0">
                <a:latin typeface="Arial" panose="020B0604020202020204" pitchFamily="34" charset="0"/>
                <a:cs typeface="Arial" panose="020B0604020202020204" pitchFamily="34" charset="0"/>
              </a:rPr>
              <a:t>entregas rápidas, comunicação constante e melhoria contínua.</a:t>
            </a: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545C7D4-842C-47C3-BB5B-257528D65064}"/>
              </a:ext>
            </a:extLst>
          </p:cNvPr>
          <p:cNvSpPr/>
          <p:nvPr/>
        </p:nvSpPr>
        <p:spPr>
          <a:xfrm>
            <a:off x="985576" y="4223242"/>
            <a:ext cx="2804985" cy="58076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2. Desenho</a:t>
            </a:r>
            <a:endParaRPr lang="pt-AO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60F0E9B-94AC-4164-82B7-722D0C9323F9}"/>
              </a:ext>
            </a:extLst>
          </p:cNvPr>
          <p:cNvSpPr/>
          <p:nvPr/>
        </p:nvSpPr>
        <p:spPr>
          <a:xfrm>
            <a:off x="4319472" y="3238291"/>
            <a:ext cx="2804985" cy="58076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FASES DO XP</a:t>
            </a:r>
            <a:endParaRPr lang="pt-AO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D2BA0C85-7922-4068-858D-1CE8C81AC351}"/>
              </a:ext>
            </a:extLst>
          </p:cNvPr>
          <p:cNvSpPr/>
          <p:nvPr/>
        </p:nvSpPr>
        <p:spPr>
          <a:xfrm>
            <a:off x="985576" y="3268224"/>
            <a:ext cx="2804985" cy="5807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1. Planejamento</a:t>
            </a:r>
            <a:endParaRPr lang="pt-AO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5CEA9737-F88B-417F-9B08-6C388BCAF818}"/>
              </a:ext>
            </a:extLst>
          </p:cNvPr>
          <p:cNvSpPr/>
          <p:nvPr/>
        </p:nvSpPr>
        <p:spPr>
          <a:xfrm>
            <a:off x="981994" y="5178260"/>
            <a:ext cx="2804985" cy="5807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3. Codificação</a:t>
            </a:r>
            <a:endParaRPr lang="pt-AO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F9E0DA7-B329-466B-8BD4-43D6620C260F}"/>
              </a:ext>
            </a:extLst>
          </p:cNvPr>
          <p:cNvSpPr/>
          <p:nvPr/>
        </p:nvSpPr>
        <p:spPr>
          <a:xfrm>
            <a:off x="8114620" y="3220751"/>
            <a:ext cx="2804985" cy="5807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4. Testes</a:t>
            </a:r>
            <a:endParaRPr lang="pt-AO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A339600-4A29-4837-8B08-4D73571E03B8}"/>
              </a:ext>
            </a:extLst>
          </p:cNvPr>
          <p:cNvSpPr/>
          <p:nvPr/>
        </p:nvSpPr>
        <p:spPr>
          <a:xfrm>
            <a:off x="8114620" y="4190735"/>
            <a:ext cx="2804985" cy="58076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5. Integração</a:t>
            </a:r>
            <a:endParaRPr lang="pt-AO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2410B030-AE80-4ED3-9BF8-A2FA6AC939A3}"/>
              </a:ext>
            </a:extLst>
          </p:cNvPr>
          <p:cNvSpPr/>
          <p:nvPr/>
        </p:nvSpPr>
        <p:spPr>
          <a:xfrm>
            <a:off x="8114622" y="5178260"/>
            <a:ext cx="2804985" cy="5807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6. Entrega</a:t>
            </a:r>
            <a:endParaRPr lang="pt-AO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01527748-8C42-4680-81FF-B6F07B47C7A2}"/>
              </a:ext>
            </a:extLst>
          </p:cNvPr>
          <p:cNvSpPr/>
          <p:nvPr/>
        </p:nvSpPr>
        <p:spPr>
          <a:xfrm>
            <a:off x="4319471" y="5231322"/>
            <a:ext cx="2804985" cy="58076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7. Feedback </a:t>
            </a:r>
            <a:endParaRPr lang="pt-AO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3D689EDC-8660-480C-91D5-F78F9CC89B49}"/>
              </a:ext>
            </a:extLst>
          </p:cNvPr>
          <p:cNvCxnSpPr>
            <a:cxnSpLocks/>
          </p:cNvCxnSpPr>
          <p:nvPr/>
        </p:nvCxnSpPr>
        <p:spPr>
          <a:xfrm flipV="1">
            <a:off x="3790561" y="3595679"/>
            <a:ext cx="5289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788C6396-877D-4AFF-A1D1-117A9C30CC33}"/>
              </a:ext>
            </a:extLst>
          </p:cNvPr>
          <p:cNvCxnSpPr>
            <a:cxnSpLocks/>
          </p:cNvCxnSpPr>
          <p:nvPr/>
        </p:nvCxnSpPr>
        <p:spPr>
          <a:xfrm flipV="1">
            <a:off x="3823470" y="3801519"/>
            <a:ext cx="822671" cy="782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6216FD78-C10A-409F-953D-A31CF43A8E8E}"/>
              </a:ext>
            </a:extLst>
          </p:cNvPr>
          <p:cNvCxnSpPr>
            <a:cxnSpLocks/>
          </p:cNvCxnSpPr>
          <p:nvPr/>
        </p:nvCxnSpPr>
        <p:spPr>
          <a:xfrm flipV="1">
            <a:off x="3786979" y="3801519"/>
            <a:ext cx="1131010" cy="1406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5EC4B841-B79C-4C71-8B8A-03DF51BEAEFF}"/>
              </a:ext>
            </a:extLst>
          </p:cNvPr>
          <p:cNvCxnSpPr>
            <a:cxnSpLocks/>
          </p:cNvCxnSpPr>
          <p:nvPr/>
        </p:nvCxnSpPr>
        <p:spPr>
          <a:xfrm flipV="1">
            <a:off x="5632274" y="3848992"/>
            <a:ext cx="0" cy="1382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1799BB39-BC38-49D3-BDA4-2DD9A37BE107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7124456" y="3511135"/>
            <a:ext cx="9901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397F17B2-62E3-4179-BBB4-3001E0CE817A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6945078" y="3848992"/>
            <a:ext cx="1169542" cy="632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9AC8A6C1-C1A0-406E-941A-895DB6A327DD}"/>
              </a:ext>
            </a:extLst>
          </p:cNvPr>
          <p:cNvCxnSpPr>
            <a:cxnSpLocks/>
          </p:cNvCxnSpPr>
          <p:nvPr/>
        </p:nvCxnSpPr>
        <p:spPr>
          <a:xfrm flipH="1" flipV="1">
            <a:off x="6588382" y="3801519"/>
            <a:ext cx="1526238" cy="1406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360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Tecnologias empregues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DB4420D5-165C-4077-8E58-92DFF711A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986846" y="1249037"/>
            <a:ext cx="2234656" cy="1251408"/>
          </a:xfr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7033814-7539-4434-8654-6C3BF8DF35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7700" y="1249036"/>
            <a:ext cx="2267464" cy="141716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AD3E225-B616-4680-9EFA-77A1D29D12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100206" y="1304545"/>
            <a:ext cx="1938641" cy="125140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E7A64C98-DA34-42C5-BE11-BB5CE32BB9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3889" y="1152771"/>
            <a:ext cx="3501296" cy="147942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AAE47D1-271D-4470-AE7D-B8E35CF1DB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0926" y="3088157"/>
            <a:ext cx="1880576" cy="1066501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1E19872-A8F9-4F14-AE04-42E786F3FB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2026" y="2701826"/>
            <a:ext cx="2857500" cy="16002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5BEB8D0-DF40-4272-AA0D-68626A6BF4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6241" y="2914571"/>
            <a:ext cx="2469340" cy="1387455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2533620B-3A9F-42FE-A30D-C8887B7136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6611" y="2701826"/>
            <a:ext cx="3238500" cy="14097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C7281D86-9FA8-406D-82A1-6B6F40EEC5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14946" y="4435839"/>
            <a:ext cx="1205542" cy="120554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D98FC920-E753-4332-84C1-68A5B286577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0426" y="4375390"/>
            <a:ext cx="1349100" cy="13491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7C78F114-99CB-4982-BA6F-9284073107F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7473" y="4196702"/>
            <a:ext cx="1720828" cy="172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686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Padrões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3704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Padrão DAO (Data Access </a:t>
            </a:r>
            <a:r>
              <a:rPr lang="pt-PT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Foi aplicado para organizar a comunicação com a Base de dados. Cada entidade do sistema, como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Estudante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Entrada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possui uma classe DAO responsável por salvar, procurar e atualizar os dados. Isso torna o código mais limpo, fácil de manter e evita repetir comandos SQL em diferentes partes do sistema.</a:t>
            </a:r>
            <a:endParaRPr lang="pt-P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6571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Ferramentas de Teste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C509B3E4-CD69-43FB-A9A6-21E10D0EF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1698" y="1993406"/>
            <a:ext cx="2143125" cy="2143125"/>
          </a:xfrm>
        </p:spPr>
      </p:pic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198D7A34-B5B8-451C-B38C-0212C8139C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704" y="2140422"/>
            <a:ext cx="30289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85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Diagrama de classes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DE97C64E-7A8E-46DA-A141-74836180DEB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508" y="1070768"/>
            <a:ext cx="7525265" cy="471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20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Casos de Teste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A7B5EF99-1275-4A18-902F-2A8FAFC65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795727"/>
              </p:ext>
            </p:extLst>
          </p:nvPr>
        </p:nvGraphicFramePr>
        <p:xfrm>
          <a:off x="914007" y="879751"/>
          <a:ext cx="10467287" cy="49998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9448">
                  <a:extLst>
                    <a:ext uri="{9D8B030D-6E8A-4147-A177-3AD203B41FA5}">
                      <a16:colId xmlns:a16="http://schemas.microsoft.com/office/drawing/2014/main" val="2539197518"/>
                    </a:ext>
                  </a:extLst>
                </a:gridCol>
                <a:gridCol w="5278744">
                  <a:extLst>
                    <a:ext uri="{9D8B030D-6E8A-4147-A177-3AD203B41FA5}">
                      <a16:colId xmlns:a16="http://schemas.microsoft.com/office/drawing/2014/main" val="2460921360"/>
                    </a:ext>
                  </a:extLst>
                </a:gridCol>
                <a:gridCol w="3489095">
                  <a:extLst>
                    <a:ext uri="{9D8B030D-6E8A-4147-A177-3AD203B41FA5}">
                      <a16:colId xmlns:a16="http://schemas.microsoft.com/office/drawing/2014/main" val="778344939"/>
                    </a:ext>
                  </a:extLst>
                </a:gridCol>
              </a:tblGrid>
              <a:tr h="7744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Caso de Teste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Descrição do Teste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Resultado Esperado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4687431"/>
                  </a:ext>
                </a:extLst>
              </a:tr>
              <a:tr h="11789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AO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3.1 Registro duplicado</a:t>
                      </a:r>
                      <a:endParaRPr lang="pt-AO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Tentar registrar a entrada do mesmo estudante duas vezes no mesmo dia.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sistema bloqueia a segunda entrada e </a:t>
                      </a:r>
                      <a:r>
                        <a:rPr lang="pt-BR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mostra</a:t>
                      </a: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aviso de duplicidade.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312671"/>
                  </a:ext>
                </a:extLst>
              </a:tr>
              <a:tr h="1583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 Registro válido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 </a:t>
                      </a:r>
                      <a:r>
                        <a:rPr lang="pt-BR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validação</a:t>
                      </a: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</a:t>
                      </a:r>
                      <a:r>
                        <a:rPr lang="pt-BR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 BI Existente</a:t>
                      </a: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 confirmar a inserção</a:t>
                      </a:r>
                      <a:r>
                        <a:rPr lang="pt-BR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do estudante</a:t>
                      </a: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 </a:t>
                      </a:r>
                      <a:r>
                        <a:rPr lang="pt-BR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 de entradas</a:t>
                      </a: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sistema registra a entrada com sucesso e salva os dados corretamente.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9546688"/>
                  </a:ext>
                </a:extLst>
              </a:tr>
              <a:tr h="11789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3.2Registro Inválido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Realizar </a:t>
                      </a:r>
                      <a:r>
                        <a:rPr lang="pt-BR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validação</a:t>
                      </a: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</a:t>
                      </a:r>
                      <a:r>
                        <a:rPr lang="pt-BR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 BI Inexistente</a:t>
                      </a: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 confirmar a inserção</a:t>
                      </a:r>
                      <a:r>
                        <a:rPr lang="pt-BR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do estudante</a:t>
                      </a: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 </a:t>
                      </a:r>
                      <a:r>
                        <a:rPr lang="pt-BR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Registro de entradas</a:t>
                      </a: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 sistema bloqueia a entrada e mostra o aviso de BI inexistente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8553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011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Casos de Teste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F72911BA-B57E-45CB-B2C4-F8FB28767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280924"/>
              </p:ext>
            </p:extLst>
          </p:nvPr>
        </p:nvGraphicFramePr>
        <p:xfrm>
          <a:off x="810705" y="1108566"/>
          <a:ext cx="10467288" cy="44836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3961">
                  <a:extLst>
                    <a:ext uri="{9D8B030D-6E8A-4147-A177-3AD203B41FA5}">
                      <a16:colId xmlns:a16="http://schemas.microsoft.com/office/drawing/2014/main" val="903464251"/>
                    </a:ext>
                  </a:extLst>
                </a:gridCol>
                <a:gridCol w="4094231">
                  <a:extLst>
                    <a:ext uri="{9D8B030D-6E8A-4147-A177-3AD203B41FA5}">
                      <a16:colId xmlns:a16="http://schemas.microsoft.com/office/drawing/2014/main" val="2627151127"/>
                    </a:ext>
                  </a:extLst>
                </a:gridCol>
                <a:gridCol w="3489096">
                  <a:extLst>
                    <a:ext uri="{9D8B030D-6E8A-4147-A177-3AD203B41FA5}">
                      <a16:colId xmlns:a16="http://schemas.microsoft.com/office/drawing/2014/main" val="3389177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Caso de Teste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AO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Descrição do Teste</a:t>
                      </a:r>
                      <a:endParaRPr lang="pt-AO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AO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Resultado Esperado</a:t>
                      </a:r>
                      <a:endParaRPr lang="pt-AO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0146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4.1 Login com dados corretos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AO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Enviar usuário e senha corretos via a rota /login utilizando o Postman.</a:t>
                      </a:r>
                      <a:endParaRPr lang="pt-AO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sistema retorna sucesso e permite o acesso ao painel de administração.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197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4.2 Login com senha incorreta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AO" sz="2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Enviar usuário válido e senha incorreta.</a:t>
                      </a:r>
                      <a:endParaRPr lang="pt-AO" sz="2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sistema retorna erro informando senha inválida.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326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4.3 Login com usuário inválido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Enviar um nome de usuário que não existe no sistema.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AO" sz="2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sistema retorna erro indicando que o usuário não foi encontrado.</a:t>
                      </a:r>
                      <a:endParaRPr lang="pt-AO" sz="2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0174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154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Sistema Proposto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085B6D5F-A86D-424C-9DF6-314BDAB65F5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07" y="1298798"/>
            <a:ext cx="3559138" cy="41505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B938CD1-6642-40B1-987E-92E0F1EB4F60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145" y="1298798"/>
            <a:ext cx="3559139" cy="415053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3C363C5-0643-4499-81BB-005BF63F2030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283" y="1298798"/>
            <a:ext cx="3108396" cy="415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58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Teste da Ferramenta de Teste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7D44243E-5F9B-4334-89E7-35484D4EE04A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822" y="1283881"/>
            <a:ext cx="5064369" cy="410034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5EC6145-14D1-4425-8F20-14A67FD1D7D7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144" y="1283881"/>
            <a:ext cx="4740536" cy="410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50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Conclusões gerais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 algn="just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desenvolvimento do Sistema Inteligente de Reconhecimento Facial para o ISP-BIÉ representará um marco importante na modernização da gestão acadêmica da instituição.  Além disso, o sistema estimulou o uso de inteligência artificial no nosso ambiente universitário e poderá servir de base para futuras inovações no ISP-BIÉ e em outras instituições de ensino.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3826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Sugestões </a:t>
            </a:r>
          </a:p>
        </p:txBody>
      </p:sp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2C754CC3-9027-4B55-A269-24FE9C798B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34117"/>
              </p:ext>
            </p:extLst>
          </p:nvPr>
        </p:nvGraphicFramePr>
        <p:xfrm>
          <a:off x="838200" y="1108567"/>
          <a:ext cx="10515600" cy="4703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6538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24347" y="1460535"/>
            <a:ext cx="7475456" cy="601127"/>
          </a:xfrm>
        </p:spPr>
        <p:txBody>
          <a:bodyPr>
            <a:normAutofit fontScale="90000"/>
          </a:bodyPr>
          <a:lstStyle/>
          <a:p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  <a:t>Instituto Superior Politécnico do Bié</a:t>
            </a:r>
            <a:b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  <a:t>Departamento de Engenharias</a:t>
            </a:r>
            <a:b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Cusrso de Engenharia Informática</a:t>
            </a: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44138" y="4209060"/>
            <a:ext cx="10113194" cy="150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Autor: Joaquim Paulo Alberto Nangayamale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O Docente da disciplina de Teste e Qualidade de Software</a:t>
            </a:r>
          </a:p>
          <a:p>
            <a:pPr>
              <a:lnSpc>
                <a:spcPct val="150000"/>
              </a:lnSpc>
            </a:pPr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MSc. Armindo Victorino Paciência, Eng.º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D8A6B4-8E34-9A9F-D9A6-33C603EB3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8" y="245003"/>
            <a:ext cx="2760975" cy="1630932"/>
          </a:xfrm>
          <a:prstGeom prst="rect">
            <a:avLst/>
          </a:prstGeom>
        </p:spPr>
      </p:pic>
      <p:grpSp>
        <p:nvGrpSpPr>
          <p:cNvPr id="10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11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12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13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1026" name="Picture 2" descr="Desenvolver software com qualidade demora? - Guia dev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9414" y="142363"/>
            <a:ext cx="2573518" cy="15921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ângulo 13"/>
          <p:cNvSpPr/>
          <p:nvPr/>
        </p:nvSpPr>
        <p:spPr>
          <a:xfrm>
            <a:off x="1658394" y="2668881"/>
            <a:ext cx="88477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60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dobe Arabic" panose="02040503050201020203" pitchFamily="18" charset="-78"/>
                <a:cs typeface="Adobe Arabic" panose="02040503050201020203" pitchFamily="18" charset="-78"/>
              </a:rPr>
              <a:t>MUITO   OBRIGADO!</a:t>
            </a:r>
          </a:p>
        </p:txBody>
      </p:sp>
    </p:spTree>
    <p:extLst>
      <p:ext uri="{BB962C8B-B14F-4D97-AF65-F5344CB8AC3E}">
        <p14:creationId xmlns:p14="http://schemas.microsoft.com/office/powerpoint/2010/main" val="41044944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27335</TotalTime>
  <Words>687</Words>
  <Application>Microsoft Office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Adobe Arabic</vt:lpstr>
      <vt:lpstr>Arial</vt:lpstr>
      <vt:lpstr>Calibri</vt:lpstr>
      <vt:lpstr>Calibri Light</vt:lpstr>
      <vt:lpstr>Times New Roman</vt:lpstr>
      <vt:lpstr>Tema do Office</vt:lpstr>
      <vt:lpstr>           Instituto Superior Politécnico do Bié Departamento de Engenharias Cusrso de Engenharia Informática  </vt:lpstr>
      <vt:lpstr>Introdução</vt:lpstr>
      <vt:lpstr>Introdução</vt:lpstr>
      <vt:lpstr>Metodologia utilizadas</vt:lpstr>
      <vt:lpstr>Tecnologias empregues</vt:lpstr>
      <vt:lpstr>Padrões</vt:lpstr>
      <vt:lpstr>Ferramentas de Teste</vt:lpstr>
      <vt:lpstr>Diagrama de classes</vt:lpstr>
      <vt:lpstr>Casos de Teste</vt:lpstr>
      <vt:lpstr>Casos de Teste</vt:lpstr>
      <vt:lpstr>Sistema Proposto</vt:lpstr>
      <vt:lpstr>Teste da Ferramenta de Teste</vt:lpstr>
      <vt:lpstr>Conclusões gerais</vt:lpstr>
      <vt:lpstr>Sugestões </vt:lpstr>
      <vt:lpstr>           Instituto Superior Politécnico do Bié Departamento de Engenharias Cusrso de Engenharia Informática  </vt:lpstr>
    </vt:vector>
  </TitlesOfParts>
  <Manager>Eng. Mendes Castanheiro António</Manager>
  <Company>MCA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Modelo</dc:title>
  <dc:creator>Wilfredo Falcón</dc:creator>
  <cp:lastModifiedBy>JOAQUIM PAULO ALBERTO NANGAYAMALE</cp:lastModifiedBy>
  <cp:revision>446</cp:revision>
  <dcterms:created xsi:type="dcterms:W3CDTF">2019-03-17T06:59:11Z</dcterms:created>
  <dcterms:modified xsi:type="dcterms:W3CDTF">2025-11-25T14:05:33Z</dcterms:modified>
</cp:coreProperties>
</file>