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6" r:id="rId1"/>
  </p:sldMasterIdLst>
  <p:notesMasterIdLst>
    <p:notesMasterId r:id="rId13"/>
  </p:notesMasterIdLst>
  <p:sldIdLst>
    <p:sldId id="256" r:id="rId2"/>
    <p:sldId id="322" r:id="rId3"/>
    <p:sldId id="258" r:id="rId4"/>
    <p:sldId id="257" r:id="rId5"/>
    <p:sldId id="259" r:id="rId6"/>
    <p:sldId id="318" r:id="rId7"/>
    <p:sldId id="319" r:id="rId8"/>
    <p:sldId id="261" r:id="rId9"/>
    <p:sldId id="327" r:id="rId10"/>
    <p:sldId id="331" r:id="rId11"/>
    <p:sldId id="317" r:id="rId12"/>
  </p:sldIdLst>
  <p:sldSz cx="9144000" cy="5143500" type="screen16x9"/>
  <p:notesSz cx="6858000" cy="9144000"/>
  <p:embeddedFontLst>
    <p:embeddedFont>
      <p:font typeface="Gothic A1 Medium" panose="020B0604020202020204" charset="-127"/>
      <p:regular r:id="rId14"/>
      <p:bold r:id="rId15"/>
    </p:embeddedFont>
    <p:embeddedFont>
      <p:font typeface="Alata" panose="020B0604020202020204" charset="0"/>
      <p:regular r:id="rId16"/>
    </p:embeddedFont>
    <p:embeddedFont>
      <p:font typeface="Anaheim" panose="020B0604020202020204" charset="0"/>
      <p:regular r:id="rId17"/>
    </p:embeddedFont>
    <p:embeddedFont>
      <p:font typeface="ArialMT" pitchFamily="2" charset="0"/>
      <p:regular r:id="rId18"/>
    </p:embeddedFont>
    <p:embeddedFont>
      <p:font typeface="Bebas Neue" panose="020B0604020202020204" charset="0"/>
      <p:regular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08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9CA50FE-B302-41A2-85E2-D6C942287D85}">
  <a:tblStyle styleId="{09CA50FE-B302-41A2-85E2-D6C942287D8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Estilo com Tema 1 - Ênfas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Estilo com Tema 1 - Ênfase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Estilo com Tema 2 - Ênfas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Estilo Claro 1 - Ênfas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Estilo Claro 1 - Ênfase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E171933-4619-4E11-9A3F-F7608DF75F80}" styleName="Estilo Médio 1 - Ênfas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8B1032C-EA38-4F05-BA0D-38AFFFC7BED3}" styleName="Estilo Claro 3 - Ênfase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03447BB-5D67-496B-8E87-E561075AD55C}" styleName="Estilo Escuro 1 - Ênfase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Estilo Escuro 1 - Ênfase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Estilo Escuro 1 - Ênfase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Estilo E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Estilo Escuro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1EBBBCC-DAD2-459C-BE2E-F6DE35CF9A28}" styleName="Estilo Escuro 2 - Ênfase 3/Ênfase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Estilo Escuro 2 - Ênfase 5/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68" autoAdjust="0"/>
    <p:restoredTop sz="94674" autoAdjust="0"/>
  </p:normalViewPr>
  <p:slideViewPr>
    <p:cSldViewPr snapToGrid="0">
      <p:cViewPr varScale="1">
        <p:scale>
          <a:sx n="103" d="100"/>
          <a:sy n="103" d="100"/>
        </p:scale>
        <p:origin x="46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03133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299b58df51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299b58df51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61438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00236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540e55c114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2540e55c114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19416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40318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54ff9c4cb4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54ff9c4cb4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8765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27950" y="112950"/>
            <a:ext cx="8888100" cy="4917600"/>
          </a:xfrm>
          <a:prstGeom prst="roundRect">
            <a:avLst>
              <a:gd name="adj" fmla="val 12274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225" y="722475"/>
            <a:ext cx="5643300" cy="22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5961888" y="3989826"/>
            <a:ext cx="2469000" cy="65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127950" y="112950"/>
            <a:ext cx="8888100" cy="4917600"/>
          </a:xfrm>
          <a:prstGeom prst="roundRect">
            <a:avLst>
              <a:gd name="adj" fmla="val 12274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2373700" y="3090650"/>
            <a:ext cx="3759300" cy="88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847300" y="2705650"/>
            <a:ext cx="1190100" cy="63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2373700" y="3823250"/>
            <a:ext cx="37593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127950" y="112950"/>
            <a:ext cx="8888100" cy="4917600"/>
          </a:xfrm>
          <a:prstGeom prst="roundRect">
            <a:avLst>
              <a:gd name="adj" fmla="val 12274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1"/>
          </p:nvPr>
        </p:nvSpPr>
        <p:spPr>
          <a:xfrm>
            <a:off x="4786348" y="1888150"/>
            <a:ext cx="3374100" cy="19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2"/>
          </p:nvPr>
        </p:nvSpPr>
        <p:spPr>
          <a:xfrm>
            <a:off x="720000" y="1888150"/>
            <a:ext cx="3374100" cy="19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127950" y="112950"/>
            <a:ext cx="8888100" cy="4917600"/>
          </a:xfrm>
          <a:prstGeom prst="roundRect">
            <a:avLst>
              <a:gd name="adj" fmla="val 12274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/>
          <p:nvPr/>
        </p:nvSpPr>
        <p:spPr>
          <a:xfrm>
            <a:off x="7995185" y="4355278"/>
            <a:ext cx="841800" cy="5478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127950" y="112950"/>
            <a:ext cx="8888100" cy="4917600"/>
          </a:xfrm>
          <a:prstGeom prst="roundRect">
            <a:avLst>
              <a:gd name="adj" fmla="val 12274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5215675" y="975775"/>
            <a:ext cx="3215100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5215950" y="2137200"/>
            <a:ext cx="3215100" cy="98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/>
          <p:nvPr/>
        </p:nvSpPr>
        <p:spPr>
          <a:xfrm>
            <a:off x="127950" y="112950"/>
            <a:ext cx="8888100" cy="4917600"/>
          </a:xfrm>
          <a:prstGeom prst="roundRect">
            <a:avLst>
              <a:gd name="adj" fmla="val 12274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ubTitle" idx="1"/>
          </p:nvPr>
        </p:nvSpPr>
        <p:spPr>
          <a:xfrm>
            <a:off x="1604711" y="2054559"/>
            <a:ext cx="2662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2"/>
          </p:nvPr>
        </p:nvSpPr>
        <p:spPr>
          <a:xfrm>
            <a:off x="5768261" y="2052160"/>
            <a:ext cx="2662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3"/>
          </p:nvPr>
        </p:nvSpPr>
        <p:spPr>
          <a:xfrm>
            <a:off x="1604711" y="3766425"/>
            <a:ext cx="2662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4"/>
          </p:nvPr>
        </p:nvSpPr>
        <p:spPr>
          <a:xfrm>
            <a:off x="5768261" y="3766423"/>
            <a:ext cx="2662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title" idx="5" hasCustomPrompt="1"/>
          </p:nvPr>
        </p:nvSpPr>
        <p:spPr>
          <a:xfrm>
            <a:off x="720005" y="1659770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 idx="6" hasCustomPrompt="1"/>
          </p:nvPr>
        </p:nvSpPr>
        <p:spPr>
          <a:xfrm>
            <a:off x="720005" y="3397366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" name="Google Shape;58;p13"/>
          <p:cNvSpPr txBox="1">
            <a:spLocks noGrp="1"/>
          </p:cNvSpPr>
          <p:nvPr>
            <p:ph type="title" idx="7" hasCustomPrompt="1"/>
          </p:nvPr>
        </p:nvSpPr>
        <p:spPr>
          <a:xfrm>
            <a:off x="4883525" y="1659758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>
            <a:spLocks noGrp="1"/>
          </p:cNvSpPr>
          <p:nvPr>
            <p:ph type="title" idx="8" hasCustomPrompt="1"/>
          </p:nvPr>
        </p:nvSpPr>
        <p:spPr>
          <a:xfrm>
            <a:off x="4883525" y="339930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9"/>
          </p:nvPr>
        </p:nvSpPr>
        <p:spPr>
          <a:xfrm>
            <a:off x="1604713" y="1316550"/>
            <a:ext cx="2662500" cy="89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13"/>
          </p:nvPr>
        </p:nvSpPr>
        <p:spPr>
          <a:xfrm>
            <a:off x="5768263" y="1317101"/>
            <a:ext cx="2662500" cy="89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14"/>
          </p:nvPr>
        </p:nvSpPr>
        <p:spPr>
          <a:xfrm>
            <a:off x="1604713" y="3028132"/>
            <a:ext cx="2662500" cy="89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5"/>
          </p:nvPr>
        </p:nvSpPr>
        <p:spPr>
          <a:xfrm>
            <a:off x="5768263" y="3028127"/>
            <a:ext cx="2662500" cy="89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/>
          <p:nvPr/>
        </p:nvSpPr>
        <p:spPr>
          <a:xfrm>
            <a:off x="127950" y="112950"/>
            <a:ext cx="8888100" cy="4917600"/>
          </a:xfrm>
          <a:prstGeom prst="roundRect">
            <a:avLst>
              <a:gd name="adj" fmla="val 12274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3968871" y="3172500"/>
            <a:ext cx="44619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subTitle" idx="1"/>
          </p:nvPr>
        </p:nvSpPr>
        <p:spPr>
          <a:xfrm>
            <a:off x="3968875" y="1309200"/>
            <a:ext cx="4461900" cy="186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6"/>
          <p:cNvSpPr/>
          <p:nvPr/>
        </p:nvSpPr>
        <p:spPr>
          <a:xfrm>
            <a:off x="713250" y="210000"/>
            <a:ext cx="7717500" cy="4723500"/>
          </a:xfrm>
          <a:prstGeom prst="roundRect">
            <a:avLst>
              <a:gd name="adj" fmla="val 12274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36"/>
          <p:cNvSpPr/>
          <p:nvPr/>
        </p:nvSpPr>
        <p:spPr>
          <a:xfrm>
            <a:off x="8142650" y="215775"/>
            <a:ext cx="1466100" cy="20769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36"/>
          <p:cNvSpPr/>
          <p:nvPr/>
        </p:nvSpPr>
        <p:spPr>
          <a:xfrm rot="5400000">
            <a:off x="1430450" y="3166495"/>
            <a:ext cx="424800" cy="27204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lt2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7"/>
          <p:cNvSpPr/>
          <p:nvPr/>
        </p:nvSpPr>
        <p:spPr>
          <a:xfrm>
            <a:off x="127950" y="112950"/>
            <a:ext cx="8888100" cy="4917600"/>
          </a:xfrm>
          <a:prstGeom prst="roundRect">
            <a:avLst>
              <a:gd name="adj" fmla="val 12274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37"/>
          <p:cNvSpPr/>
          <p:nvPr/>
        </p:nvSpPr>
        <p:spPr>
          <a:xfrm flipH="1">
            <a:off x="320400" y="-463275"/>
            <a:ext cx="1466100" cy="20769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37"/>
          <p:cNvSpPr/>
          <p:nvPr/>
        </p:nvSpPr>
        <p:spPr>
          <a:xfrm rot="-5400000" flipH="1">
            <a:off x="6643550" y="3531816"/>
            <a:ext cx="1166400" cy="27204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thic A1 Medium"/>
              <a:buChar char="●"/>
              <a:defRPr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thic A1 Medium"/>
              <a:buChar char="○"/>
              <a:defRPr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thic A1 Medium"/>
              <a:buChar char="■"/>
              <a:defRPr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thic A1 Medium"/>
              <a:buChar char="●"/>
              <a:defRPr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thic A1 Medium"/>
              <a:buChar char="○"/>
              <a:defRPr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thic A1 Medium"/>
              <a:buChar char="■"/>
              <a:defRPr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thic A1 Medium"/>
              <a:buChar char="●"/>
              <a:defRPr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thic A1 Medium"/>
              <a:buChar char="○"/>
              <a:defRPr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thic A1 Medium"/>
              <a:buChar char="■"/>
              <a:defRPr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5" r:id="rId5"/>
    <p:sldLayoutId id="2147483658" r:id="rId6"/>
    <p:sldLayoutId id="2147483659" r:id="rId7"/>
    <p:sldLayoutId id="2147483661" r:id="rId8"/>
    <p:sldLayoutId id="2147483682" r:id="rId9"/>
    <p:sldLayoutId id="2147483683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jp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jpg"/><Relationship Id="rId15" Type="http://schemas.openxmlformats.org/officeDocument/2006/relationships/image" Target="../media/image14.jp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1"/>
          <p:cNvSpPr txBox="1">
            <a:spLocks noGrp="1"/>
          </p:cNvSpPr>
          <p:nvPr>
            <p:ph type="ctrTitle"/>
          </p:nvPr>
        </p:nvSpPr>
        <p:spPr>
          <a:xfrm>
            <a:off x="1947462" y="1231739"/>
            <a:ext cx="5379703" cy="22485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pt-PT" altLang="en-US" sz="1800" dirty="0">
                <a:solidFill>
                  <a:schemeClr val="tx1"/>
                </a:solidFill>
                <a:latin typeface="ArialMT" pitchFamily="2" charset="0"/>
              </a:rPr>
              <a:t>Instituto Superior Politécnico do Bié</a:t>
            </a:r>
            <a:br>
              <a:rPr lang="pt-PT" altLang="en-US" sz="1800" dirty="0">
                <a:solidFill>
                  <a:schemeClr val="tx1"/>
                </a:solidFill>
                <a:latin typeface="ArialMT" pitchFamily="2" charset="0"/>
              </a:rPr>
            </a:br>
            <a:r>
              <a:rPr lang="pt-PT" altLang="en-US" sz="1800" dirty="0">
                <a:solidFill>
                  <a:schemeClr val="tx1"/>
                </a:solidFill>
                <a:latin typeface="ArialMT" pitchFamily="2" charset="0"/>
              </a:rPr>
              <a:t>Departamento de Engenharias</a:t>
            </a:r>
            <a:br>
              <a:rPr lang="pt-PT" altLang="en-US" sz="1800" dirty="0">
                <a:solidFill>
                  <a:schemeClr val="tx1"/>
                </a:solidFill>
                <a:latin typeface="ArialMT" pitchFamily="2" charset="0"/>
              </a:rPr>
            </a:br>
            <a:r>
              <a:rPr lang="pt-PT" altLang="en-US" sz="1800" dirty="0">
                <a:solidFill>
                  <a:schemeClr val="tx1"/>
                </a:solidFill>
                <a:latin typeface="ArialMT" pitchFamily="2" charset="0"/>
              </a:rPr>
              <a:t>Curso de Engenharia Informática</a:t>
            </a:r>
            <a:br>
              <a:rPr lang="pt-PT" altLang="en-US" sz="1800" dirty="0">
                <a:solidFill>
                  <a:schemeClr val="tx1"/>
                </a:solidFill>
                <a:latin typeface="ArialMT" pitchFamily="2" charset="0"/>
              </a:rPr>
            </a:br>
            <a:br>
              <a:rPr lang="pt-AO" sz="2000" dirty="0">
                <a:solidFill>
                  <a:schemeClr val="tx1"/>
                </a:solidFill>
                <a:latin typeface="ArialMT" pitchFamily="2" charset="0"/>
              </a:rPr>
            </a:br>
            <a:r>
              <a:rPr lang="pt-BR" sz="2000" b="1" dirty="0">
                <a:solidFill>
                  <a:schemeClr val="tx1"/>
                </a:solidFill>
                <a:latin typeface="ArialMT" pitchFamily="2" charset="0"/>
              </a:rPr>
              <a:t>Título</a:t>
            </a:r>
            <a:br>
              <a:rPr lang="pt-BR" sz="2000" dirty="0">
                <a:solidFill>
                  <a:schemeClr val="tx1"/>
                </a:solidFill>
                <a:latin typeface="ArialMT" pitchFamily="2" charset="0"/>
              </a:rPr>
            </a:br>
            <a:r>
              <a:rPr lang="pt-BR" sz="2000" dirty="0">
                <a:solidFill>
                  <a:schemeClr val="tx1"/>
                </a:solidFill>
                <a:latin typeface="ArialMT" pitchFamily="2" charset="0"/>
              </a:rPr>
              <a:t>Sistema Inteligente de Reconhecimento Facial para Controle de Presenças de Estudantes do ISP-BIÉ</a:t>
            </a:r>
            <a:br>
              <a:rPr lang="pt-BR" sz="2000" dirty="0">
                <a:solidFill>
                  <a:schemeClr val="tx1"/>
                </a:solidFill>
                <a:latin typeface="ArialMT" pitchFamily="2" charset="0"/>
              </a:rPr>
            </a:br>
            <a:br>
              <a:rPr lang="pt-BR" sz="2000" dirty="0">
                <a:solidFill>
                  <a:schemeClr val="tx1"/>
                </a:solidFill>
                <a:latin typeface="ArialMT" pitchFamily="2" charset="0"/>
              </a:rPr>
            </a:br>
            <a:br>
              <a:rPr lang="pt-AO" sz="2000" dirty="0">
                <a:solidFill>
                  <a:schemeClr val="tx1"/>
                </a:solidFill>
                <a:latin typeface="ArialMT" pitchFamily="2" charset="0"/>
              </a:rPr>
            </a:br>
            <a:endParaRPr sz="2000" dirty="0">
              <a:solidFill>
                <a:schemeClr val="tx1"/>
              </a:solidFill>
              <a:latin typeface="ArialMT" pitchFamily="2" charset="0"/>
            </a:endParaRPr>
          </a:p>
        </p:txBody>
      </p:sp>
      <p:grpSp>
        <p:nvGrpSpPr>
          <p:cNvPr id="253" name="Google Shape;253;p41"/>
          <p:cNvGrpSpPr/>
          <p:nvPr/>
        </p:nvGrpSpPr>
        <p:grpSpPr>
          <a:xfrm>
            <a:off x="218064" y="149889"/>
            <a:ext cx="8756214" cy="4833786"/>
            <a:chOff x="282650" y="68480"/>
            <a:chExt cx="8756214" cy="4833786"/>
          </a:xfrm>
        </p:grpSpPr>
        <p:sp>
          <p:nvSpPr>
            <p:cNvPr id="254" name="Google Shape;254;p41"/>
            <p:cNvSpPr/>
            <p:nvPr/>
          </p:nvSpPr>
          <p:spPr>
            <a:xfrm rot="16200000">
              <a:off x="7343043" y="387492"/>
              <a:ext cx="2014834" cy="1376809"/>
            </a:xfrm>
            <a:prstGeom prst="round2DiagRect">
              <a:avLst>
                <a:gd name="adj1" fmla="val 50000"/>
                <a:gd name="adj2" fmla="val 4773"/>
              </a:avLst>
            </a:prstGeom>
            <a:solidFill>
              <a:srgbClr val="92A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5" name="Google Shape;255;p41"/>
            <p:cNvSpPr/>
            <p:nvPr/>
          </p:nvSpPr>
          <p:spPr>
            <a:xfrm rot="5400000">
              <a:off x="1245735" y="3144951"/>
              <a:ext cx="794230" cy="27204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vert="vert270" wrap="square" lIns="91425" tIns="91425" rIns="91425" bIns="91425" anchor="ctr" anchorCtr="0">
              <a:noAutofit/>
            </a:bodyPr>
            <a:lstStyle/>
            <a:p>
              <a:r>
                <a:rPr lang="pt-PT" b="1" dirty="0"/>
                <a:t>Autor: Joaquim Paulo Alberto Nangayamale</a:t>
              </a:r>
              <a:endParaRPr lang="pt-AO" dirty="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7" name="Google Shape;257;p41"/>
            <p:cNvSpPr/>
            <p:nvPr/>
          </p:nvSpPr>
          <p:spPr>
            <a:xfrm rot="-5400000">
              <a:off x="7735975" y="2932862"/>
              <a:ext cx="841800" cy="5478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tângulo 1">
            <a:extLst>
              <a:ext uri="{FF2B5EF4-FFF2-40B4-BE49-F238E27FC236}">
                <a16:creationId xmlns:a16="http://schemas.microsoft.com/office/drawing/2014/main" id="{BFE71FDB-FB38-4416-83F9-6F2033E150E0}"/>
              </a:ext>
            </a:extLst>
          </p:cNvPr>
          <p:cNvSpPr/>
          <p:nvPr/>
        </p:nvSpPr>
        <p:spPr>
          <a:xfrm>
            <a:off x="3563056" y="4820857"/>
            <a:ext cx="1743075" cy="162818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1200" b="1" i="1" dirty="0"/>
              <a:t>CUITO 2025</a:t>
            </a:r>
            <a:endParaRPr lang="pt-AO" sz="1200" dirty="0"/>
          </a:p>
          <a:p>
            <a:pPr algn="ctr"/>
            <a:endParaRPr lang="pt-AO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A967D082-7A05-4805-8E05-92FEFCAEC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4105" y="-146882"/>
            <a:ext cx="2760975" cy="1630932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oogle Shape;253;p41"/>
          <p:cNvGrpSpPr/>
          <p:nvPr/>
        </p:nvGrpSpPr>
        <p:grpSpPr>
          <a:xfrm>
            <a:off x="218064" y="149889"/>
            <a:ext cx="8756215" cy="4833786"/>
            <a:chOff x="282650" y="68480"/>
            <a:chExt cx="8756215" cy="4833786"/>
          </a:xfrm>
        </p:grpSpPr>
        <p:sp>
          <p:nvSpPr>
            <p:cNvPr id="254" name="Google Shape;254;p41"/>
            <p:cNvSpPr/>
            <p:nvPr/>
          </p:nvSpPr>
          <p:spPr>
            <a:xfrm rot="16200000">
              <a:off x="7532362" y="576810"/>
              <a:ext cx="2014834" cy="998173"/>
            </a:xfrm>
            <a:prstGeom prst="round2DiagRect">
              <a:avLst>
                <a:gd name="adj1" fmla="val 50000"/>
                <a:gd name="adj2" fmla="val 4773"/>
              </a:avLst>
            </a:prstGeom>
            <a:solidFill>
              <a:srgbClr val="92A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5" name="Google Shape;255;p41"/>
            <p:cNvSpPr/>
            <p:nvPr/>
          </p:nvSpPr>
          <p:spPr>
            <a:xfrm rot="5400000">
              <a:off x="1112726" y="3170992"/>
              <a:ext cx="901198" cy="256135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vert="vert270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" name="Retângulo 1">
            <a:extLst>
              <a:ext uri="{FF2B5EF4-FFF2-40B4-BE49-F238E27FC236}">
                <a16:creationId xmlns:a16="http://schemas.microsoft.com/office/drawing/2014/main" id="{BFE71FDB-FB38-4416-83F9-6F2033E150E0}"/>
              </a:ext>
            </a:extLst>
          </p:cNvPr>
          <p:cNvSpPr/>
          <p:nvPr/>
        </p:nvSpPr>
        <p:spPr>
          <a:xfrm>
            <a:off x="3563056" y="4820857"/>
            <a:ext cx="1743075" cy="162818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AO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C17C7D0F-9ACA-4C06-A1EF-C545A44091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8483" y="1749398"/>
            <a:ext cx="7557211" cy="2207400"/>
          </a:xfrm>
        </p:spPr>
        <p:txBody>
          <a:bodyPr/>
          <a:lstStyle/>
          <a:p>
            <a:r>
              <a:rPr lang="pt-PT" sz="2000" dirty="0">
                <a:latin typeface="Arial" panose="020B0604020202020204" pitchFamily="34" charset="0"/>
                <a:cs typeface="Arial" panose="020B0604020202020204" pitchFamily="34" charset="0"/>
              </a:rPr>
              <a:t>Este projeto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foca</a:t>
            </a:r>
            <a:r>
              <a:rPr lang="pt-PT" sz="2000" dirty="0">
                <a:latin typeface="Arial" panose="020B0604020202020204" pitchFamily="34" charset="0"/>
                <a:cs typeface="Arial" panose="020B0604020202020204" pitchFamily="34" charset="0"/>
              </a:rPr>
              <a:t> na abordagem de desafios enfrentados pelo Instituto Superior Politécnico do Bié (ISP-BIÉ) em relação ao controle de presença dos estudantes. Atualmente, a instituição carece de um sistema informático para essa finalidade, o que acarreta a ausência de relatórios informatizados e a facilidade de fraudes no método de controle de presença existente.</a:t>
            </a:r>
            <a:br>
              <a:rPr lang="pt-PT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AO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AO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Google Shape;275;p43">
            <a:extLst>
              <a:ext uri="{FF2B5EF4-FFF2-40B4-BE49-F238E27FC236}">
                <a16:creationId xmlns:a16="http://schemas.microsoft.com/office/drawing/2014/main" id="{718C6403-188B-46E7-B128-6C87F7C935B5}"/>
              </a:ext>
            </a:extLst>
          </p:cNvPr>
          <p:cNvSpPr txBox="1">
            <a:spLocks/>
          </p:cNvSpPr>
          <p:nvPr/>
        </p:nvSpPr>
        <p:spPr>
          <a:xfrm>
            <a:off x="1498739" y="744669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ata"/>
              <a:buNone/>
              <a:defRPr sz="44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ata"/>
              <a:buNone/>
              <a:defRPr sz="5200" b="0" i="0" u="none" strike="noStrike" cap="none">
                <a:solidFill>
                  <a:srgbClr val="191919"/>
                </a:solidFill>
                <a:latin typeface="Alata"/>
                <a:ea typeface="Alata"/>
                <a:cs typeface="Alata"/>
                <a:sym typeface="Alat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ata"/>
              <a:buNone/>
              <a:defRPr sz="5200" b="0" i="0" u="none" strike="noStrike" cap="none">
                <a:solidFill>
                  <a:srgbClr val="191919"/>
                </a:solidFill>
                <a:latin typeface="Alata"/>
                <a:ea typeface="Alata"/>
                <a:cs typeface="Alata"/>
                <a:sym typeface="Alat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ata"/>
              <a:buNone/>
              <a:defRPr sz="5200" b="0" i="0" u="none" strike="noStrike" cap="none">
                <a:solidFill>
                  <a:srgbClr val="191919"/>
                </a:solidFill>
                <a:latin typeface="Alata"/>
                <a:ea typeface="Alata"/>
                <a:cs typeface="Alata"/>
                <a:sym typeface="Alat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ata"/>
              <a:buNone/>
              <a:defRPr sz="5200" b="0" i="0" u="none" strike="noStrike" cap="none">
                <a:solidFill>
                  <a:srgbClr val="191919"/>
                </a:solidFill>
                <a:latin typeface="Alata"/>
                <a:ea typeface="Alata"/>
                <a:cs typeface="Alata"/>
                <a:sym typeface="Alat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ata"/>
              <a:buNone/>
              <a:defRPr sz="5200" b="0" i="0" u="none" strike="noStrike" cap="none">
                <a:solidFill>
                  <a:srgbClr val="191919"/>
                </a:solidFill>
                <a:latin typeface="Alata"/>
                <a:ea typeface="Alata"/>
                <a:cs typeface="Alata"/>
                <a:sym typeface="Alat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ata"/>
              <a:buNone/>
              <a:defRPr sz="5200" b="0" i="0" u="none" strike="noStrike" cap="none">
                <a:solidFill>
                  <a:srgbClr val="191919"/>
                </a:solidFill>
                <a:latin typeface="Alata"/>
                <a:ea typeface="Alata"/>
                <a:cs typeface="Alata"/>
                <a:sym typeface="Alat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ata"/>
              <a:buNone/>
              <a:defRPr sz="5200" b="0" i="0" u="none" strike="noStrike" cap="none">
                <a:solidFill>
                  <a:srgbClr val="191919"/>
                </a:solidFill>
                <a:latin typeface="Alata"/>
                <a:ea typeface="Alata"/>
                <a:cs typeface="Alata"/>
                <a:sym typeface="Alat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ata"/>
              <a:buNone/>
              <a:defRPr sz="5200" b="0" i="0" u="none" strike="noStrike" cap="none">
                <a:solidFill>
                  <a:srgbClr val="191919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r>
              <a:rPr lang="pt-PT" sz="4000" b="1" dirty="0"/>
              <a:t>CONTEXTUALIZAÇÃO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862695803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3"/>
          <p:cNvSpPr/>
          <p:nvPr/>
        </p:nvSpPr>
        <p:spPr>
          <a:xfrm rot="-5400000">
            <a:off x="371525" y="1641107"/>
            <a:ext cx="810215" cy="5478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43"/>
          <p:cNvSpPr txBox="1">
            <a:spLocks noGrp="1"/>
          </p:cNvSpPr>
          <p:nvPr>
            <p:ph type="title"/>
          </p:nvPr>
        </p:nvSpPr>
        <p:spPr>
          <a:xfrm>
            <a:off x="720000" y="44263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PT" sz="4000" b="1" dirty="0"/>
              <a:t>SITUAÇÕES </a:t>
            </a:r>
            <a:r>
              <a:rPr lang="pt-BR" sz="4000" b="1" dirty="0"/>
              <a:t>PROBLEMÁTICAS</a:t>
            </a:r>
            <a:r>
              <a:rPr lang="pt-PT" sz="4000" b="1" dirty="0"/>
              <a:t>:</a:t>
            </a:r>
            <a:br>
              <a:rPr lang="pt-AO" dirty="0"/>
            </a:br>
            <a:endParaRPr dirty="0"/>
          </a:p>
        </p:txBody>
      </p:sp>
      <p:sp>
        <p:nvSpPr>
          <p:cNvPr id="280" name="Google Shape;280;p43"/>
          <p:cNvSpPr txBox="1">
            <a:spLocks noGrp="1"/>
          </p:cNvSpPr>
          <p:nvPr>
            <p:ph type="title" idx="5"/>
          </p:nvPr>
        </p:nvSpPr>
        <p:spPr>
          <a:xfrm>
            <a:off x="409282" y="172051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283" name="Google Shape;283;p43"/>
          <p:cNvSpPr txBox="1">
            <a:spLocks noGrp="1"/>
          </p:cNvSpPr>
          <p:nvPr>
            <p:ph type="title" idx="8"/>
          </p:nvPr>
        </p:nvSpPr>
        <p:spPr>
          <a:xfrm>
            <a:off x="4883525" y="3399301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</a:t>
            </a:r>
            <a:endParaRPr dirty="0"/>
          </a:p>
        </p:txBody>
      </p:sp>
      <p:sp>
        <p:nvSpPr>
          <p:cNvPr id="25" name="Google Shape;284;p43">
            <a:extLst>
              <a:ext uri="{FF2B5EF4-FFF2-40B4-BE49-F238E27FC236}">
                <a16:creationId xmlns:a16="http://schemas.microsoft.com/office/drawing/2014/main" id="{CCC44FED-4F3D-4D59-888B-0194A463A247}"/>
              </a:ext>
            </a:extLst>
          </p:cNvPr>
          <p:cNvSpPr txBox="1">
            <a:spLocks/>
          </p:cNvSpPr>
          <p:nvPr/>
        </p:nvSpPr>
        <p:spPr>
          <a:xfrm>
            <a:off x="886962" y="1538036"/>
            <a:ext cx="3680228" cy="697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pt-BR" dirty="0">
                <a:latin typeface="+mj-lt"/>
              </a:rPr>
              <a:t>Necessidade de modernizar a gestão acadêmica </a:t>
            </a:r>
            <a:endParaRPr lang="pt-AO" dirty="0">
              <a:latin typeface="+mj-lt"/>
            </a:endParaRPr>
          </a:p>
        </p:txBody>
      </p:sp>
      <p:sp>
        <p:nvSpPr>
          <p:cNvPr id="26" name="Google Shape;271;p43">
            <a:extLst>
              <a:ext uri="{FF2B5EF4-FFF2-40B4-BE49-F238E27FC236}">
                <a16:creationId xmlns:a16="http://schemas.microsoft.com/office/drawing/2014/main" id="{CFE7E2D9-84FB-4D8B-B5F6-E7A08D102771}"/>
              </a:ext>
            </a:extLst>
          </p:cNvPr>
          <p:cNvSpPr/>
          <p:nvPr/>
        </p:nvSpPr>
        <p:spPr>
          <a:xfrm rot="16200000">
            <a:off x="4344725" y="1574518"/>
            <a:ext cx="890700" cy="5478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bg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" name="Google Shape;280;p43">
            <a:extLst>
              <a:ext uri="{FF2B5EF4-FFF2-40B4-BE49-F238E27FC236}">
                <a16:creationId xmlns:a16="http://schemas.microsoft.com/office/drawing/2014/main" id="{2728EADB-09F7-45DA-BB35-5711AFA3DD2B}"/>
              </a:ext>
            </a:extLst>
          </p:cNvPr>
          <p:cNvSpPr txBox="1">
            <a:spLocks/>
          </p:cNvSpPr>
          <p:nvPr/>
        </p:nvSpPr>
        <p:spPr>
          <a:xfrm>
            <a:off x="4403619" y="1605815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24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r>
              <a:rPr lang="en" dirty="0"/>
              <a:t>02</a:t>
            </a:r>
          </a:p>
        </p:txBody>
      </p:sp>
      <p:sp>
        <p:nvSpPr>
          <p:cNvPr id="47" name="Google Shape;284;p43">
            <a:extLst>
              <a:ext uri="{FF2B5EF4-FFF2-40B4-BE49-F238E27FC236}">
                <a16:creationId xmlns:a16="http://schemas.microsoft.com/office/drawing/2014/main" id="{F1493809-5EE3-4C81-8633-257C5B8E720F}"/>
              </a:ext>
            </a:extLst>
          </p:cNvPr>
          <p:cNvSpPr txBox="1">
            <a:spLocks/>
          </p:cNvSpPr>
          <p:nvPr/>
        </p:nvSpPr>
        <p:spPr>
          <a:xfrm>
            <a:off x="5138319" y="2053415"/>
            <a:ext cx="3793666" cy="697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pt-BR" dirty="0">
                <a:latin typeface="+mj-lt"/>
              </a:rPr>
              <a:t>Ausência de relatórios informatizados para a gestão de presença dos estudantes</a:t>
            </a:r>
            <a:endParaRPr lang="pt-AO" dirty="0">
              <a:latin typeface="+mj-lt"/>
            </a:endParaRPr>
          </a:p>
        </p:txBody>
      </p:sp>
      <p:sp>
        <p:nvSpPr>
          <p:cNvPr id="13" name="Google Shape;271;p43">
            <a:extLst>
              <a:ext uri="{FF2B5EF4-FFF2-40B4-BE49-F238E27FC236}">
                <a16:creationId xmlns:a16="http://schemas.microsoft.com/office/drawing/2014/main" id="{C9142D95-6AB8-4C56-B7CE-0AF149F38378}"/>
              </a:ext>
            </a:extLst>
          </p:cNvPr>
          <p:cNvSpPr/>
          <p:nvPr/>
        </p:nvSpPr>
        <p:spPr>
          <a:xfrm rot="16200000">
            <a:off x="424732" y="3349201"/>
            <a:ext cx="890700" cy="5478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bg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" name="Google Shape;280;p43">
            <a:extLst>
              <a:ext uri="{FF2B5EF4-FFF2-40B4-BE49-F238E27FC236}">
                <a16:creationId xmlns:a16="http://schemas.microsoft.com/office/drawing/2014/main" id="{70E23B42-0BC3-4E18-BAE3-8904F339D8EA}"/>
              </a:ext>
            </a:extLst>
          </p:cNvPr>
          <p:cNvSpPr txBox="1">
            <a:spLocks/>
          </p:cNvSpPr>
          <p:nvPr/>
        </p:nvSpPr>
        <p:spPr>
          <a:xfrm>
            <a:off x="502732" y="3430251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24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r>
              <a:rPr lang="en" dirty="0"/>
              <a:t>04</a:t>
            </a:r>
          </a:p>
        </p:txBody>
      </p:sp>
      <p:sp>
        <p:nvSpPr>
          <p:cNvPr id="15" name="Google Shape;284;p43">
            <a:extLst>
              <a:ext uri="{FF2B5EF4-FFF2-40B4-BE49-F238E27FC236}">
                <a16:creationId xmlns:a16="http://schemas.microsoft.com/office/drawing/2014/main" id="{FDB6C895-5294-4AC2-8F33-E4C4E60B1EB3}"/>
              </a:ext>
            </a:extLst>
          </p:cNvPr>
          <p:cNvSpPr txBox="1">
            <a:spLocks/>
          </p:cNvSpPr>
          <p:nvPr/>
        </p:nvSpPr>
        <p:spPr>
          <a:xfrm>
            <a:off x="886962" y="3392055"/>
            <a:ext cx="3793666" cy="697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pt-BR" dirty="0">
                <a:latin typeface="+mj-lt"/>
              </a:rPr>
              <a:t>Facilidade de fraude no método de controle de presença actual</a:t>
            </a:r>
            <a:endParaRPr lang="pt-AO" dirty="0"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2"/>
          <p:cNvSpPr txBox="1">
            <a:spLocks noGrp="1"/>
          </p:cNvSpPr>
          <p:nvPr>
            <p:ph type="title"/>
          </p:nvPr>
        </p:nvSpPr>
        <p:spPr>
          <a:xfrm>
            <a:off x="2043975" y="99723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b="1" dirty="0"/>
              <a:t>PROBLEMA CIENTÍFICO </a:t>
            </a:r>
            <a:endParaRPr lang="pt-AO" b="1" dirty="0"/>
          </a:p>
        </p:txBody>
      </p:sp>
      <p:sp>
        <p:nvSpPr>
          <p:cNvPr id="264" name="Google Shape;264;p42"/>
          <p:cNvSpPr txBox="1"/>
          <p:nvPr/>
        </p:nvSpPr>
        <p:spPr>
          <a:xfrm>
            <a:off x="1765426" y="2038351"/>
            <a:ext cx="6881549" cy="1457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algn="just"/>
            <a:r>
              <a:rPr lang="pt-BR" sz="2000" dirty="0">
                <a:solidFill>
                  <a:schemeClr val="tx1"/>
                </a:solidFill>
              </a:rPr>
              <a:t>Como um sistema Inteligente de reconhecimento facial pode melhorar o controle de presença dos estudantes no ISP-BIÉ?</a:t>
            </a:r>
            <a:endParaRPr lang="pt-AO" sz="2000" b="1" dirty="0">
              <a:solidFill>
                <a:schemeClr val="tx1"/>
              </a:solidFill>
            </a:endParaRPr>
          </a:p>
        </p:txBody>
      </p:sp>
      <p:sp>
        <p:nvSpPr>
          <p:cNvPr id="9" name="Google Shape;310;p45">
            <a:extLst>
              <a:ext uri="{FF2B5EF4-FFF2-40B4-BE49-F238E27FC236}">
                <a16:creationId xmlns:a16="http://schemas.microsoft.com/office/drawing/2014/main" id="{BE909560-95AD-4406-8A39-D462CE925E8C}"/>
              </a:ext>
            </a:extLst>
          </p:cNvPr>
          <p:cNvSpPr/>
          <p:nvPr/>
        </p:nvSpPr>
        <p:spPr>
          <a:xfrm rot="5400000" flipH="1">
            <a:off x="469033" y="-79408"/>
            <a:ext cx="1417500" cy="1881188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92AECE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 dirty="0"/>
              <a:t> </a:t>
            </a:r>
            <a:r>
              <a:rPr lang="pt-BR" sz="6000" dirty="0">
                <a:solidFill>
                  <a:schemeClr val="tx1"/>
                </a:solidFill>
              </a:rPr>
              <a:t> </a:t>
            </a:r>
            <a:endParaRPr sz="6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4"/>
          <p:cNvSpPr txBox="1">
            <a:spLocks noGrp="1"/>
          </p:cNvSpPr>
          <p:nvPr>
            <p:ph type="title"/>
          </p:nvPr>
        </p:nvSpPr>
        <p:spPr>
          <a:xfrm>
            <a:off x="3848550" y="1029280"/>
            <a:ext cx="4535050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pt-PT" sz="3200" b="1" dirty="0"/>
              <a:t>OBJECTO DE ESTUDO</a:t>
            </a:r>
            <a:endParaRPr lang="pt-AO" sz="3200" b="1" dirty="0"/>
          </a:p>
        </p:txBody>
      </p:sp>
      <p:sp>
        <p:nvSpPr>
          <p:cNvPr id="293" name="Google Shape;293;p44"/>
          <p:cNvSpPr txBox="1">
            <a:spLocks noGrp="1"/>
          </p:cNvSpPr>
          <p:nvPr>
            <p:ph type="subTitle" idx="1"/>
          </p:nvPr>
        </p:nvSpPr>
        <p:spPr>
          <a:xfrm>
            <a:off x="2341984" y="2576420"/>
            <a:ext cx="6182098" cy="109119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/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O processo de controle de presença dos estudantes no ISP-BIÉ.</a:t>
            </a:r>
            <a:endParaRPr lang="pt-AO" sz="20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94" name="Google Shape;294;p44"/>
          <p:cNvGrpSpPr/>
          <p:nvPr/>
        </p:nvGrpSpPr>
        <p:grpSpPr>
          <a:xfrm>
            <a:off x="239725" y="258566"/>
            <a:ext cx="8596750" cy="4626634"/>
            <a:chOff x="239725" y="258566"/>
            <a:chExt cx="8596750" cy="4626634"/>
          </a:xfrm>
        </p:grpSpPr>
        <p:sp>
          <p:nvSpPr>
            <p:cNvPr id="295" name="Google Shape;295;p44"/>
            <p:cNvSpPr/>
            <p:nvPr/>
          </p:nvSpPr>
          <p:spPr>
            <a:xfrm rot="-5400000" flipH="1">
              <a:off x="1016725" y="-518434"/>
              <a:ext cx="1166400" cy="27204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44"/>
            <p:cNvSpPr/>
            <p:nvPr/>
          </p:nvSpPr>
          <p:spPr>
            <a:xfrm>
              <a:off x="987375" y="1842725"/>
              <a:ext cx="1972800" cy="5478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44"/>
            <p:cNvSpPr/>
            <p:nvPr/>
          </p:nvSpPr>
          <p:spPr>
            <a:xfrm flipH="1">
              <a:off x="239725" y="2808300"/>
              <a:ext cx="1466100" cy="20769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rgbClr val="92A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44"/>
            <p:cNvSpPr/>
            <p:nvPr/>
          </p:nvSpPr>
          <p:spPr>
            <a:xfrm rot="-5400000">
              <a:off x="92725" y="1842750"/>
              <a:ext cx="841800" cy="5478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44"/>
            <p:cNvSpPr/>
            <p:nvPr/>
          </p:nvSpPr>
          <p:spPr>
            <a:xfrm rot="-5400000" flipH="1">
              <a:off x="6893075" y="2941791"/>
              <a:ext cx="1166400" cy="27204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4"/>
          <p:cNvSpPr txBox="1">
            <a:spLocks noGrp="1"/>
          </p:cNvSpPr>
          <p:nvPr>
            <p:ph type="title"/>
          </p:nvPr>
        </p:nvSpPr>
        <p:spPr>
          <a:xfrm>
            <a:off x="787525" y="1115066"/>
            <a:ext cx="4535050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pt-PT" sz="3200" b="1" dirty="0"/>
              <a:t>CAMPO DE ACÇÃO</a:t>
            </a:r>
            <a:endParaRPr lang="pt-AO" sz="3200" b="1" dirty="0"/>
          </a:p>
        </p:txBody>
      </p:sp>
      <p:sp>
        <p:nvSpPr>
          <p:cNvPr id="293" name="Google Shape;293;p44"/>
          <p:cNvSpPr txBox="1">
            <a:spLocks noGrp="1"/>
          </p:cNvSpPr>
          <p:nvPr>
            <p:ph type="subTitle" idx="1"/>
          </p:nvPr>
        </p:nvSpPr>
        <p:spPr>
          <a:xfrm>
            <a:off x="1599925" y="2361631"/>
            <a:ext cx="6182098" cy="109119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/>
            <a:r>
              <a:rPr 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Informatização e Modernização do Controle de Presença de Estudantes nas Salas de Aula do Instituto Superior Politécnico do Bié (ISP-Bié).</a:t>
            </a:r>
            <a:endParaRPr lang="pt-AO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94" name="Google Shape;294;p44"/>
          <p:cNvGrpSpPr/>
          <p:nvPr/>
        </p:nvGrpSpPr>
        <p:grpSpPr>
          <a:xfrm>
            <a:off x="239725" y="258566"/>
            <a:ext cx="8596750" cy="4626634"/>
            <a:chOff x="239725" y="258566"/>
            <a:chExt cx="8596750" cy="4626634"/>
          </a:xfrm>
        </p:grpSpPr>
        <p:sp>
          <p:nvSpPr>
            <p:cNvPr id="295" name="Google Shape;295;p44"/>
            <p:cNvSpPr/>
            <p:nvPr/>
          </p:nvSpPr>
          <p:spPr>
            <a:xfrm rot="-5400000" flipH="1">
              <a:off x="1016725" y="-518434"/>
              <a:ext cx="1166400" cy="27204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44"/>
            <p:cNvSpPr/>
            <p:nvPr/>
          </p:nvSpPr>
          <p:spPr>
            <a:xfrm flipH="1">
              <a:off x="239725" y="2808300"/>
              <a:ext cx="1466100" cy="20769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rgbClr val="92A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44"/>
            <p:cNvSpPr/>
            <p:nvPr/>
          </p:nvSpPr>
          <p:spPr>
            <a:xfrm rot="-5400000">
              <a:off x="92725" y="1842750"/>
              <a:ext cx="841800" cy="5478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44"/>
            <p:cNvSpPr/>
            <p:nvPr/>
          </p:nvSpPr>
          <p:spPr>
            <a:xfrm rot="-5400000" flipH="1">
              <a:off x="6893075" y="2941791"/>
              <a:ext cx="1166400" cy="27204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123181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4"/>
          <p:cNvSpPr txBox="1">
            <a:spLocks noGrp="1"/>
          </p:cNvSpPr>
          <p:nvPr>
            <p:ph type="title"/>
          </p:nvPr>
        </p:nvSpPr>
        <p:spPr>
          <a:xfrm>
            <a:off x="787525" y="1115066"/>
            <a:ext cx="4535050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pt-PT" sz="3200" b="1" dirty="0"/>
              <a:t>OBJECTIVO GERAL</a:t>
            </a:r>
            <a:endParaRPr lang="pt-AO" sz="3200" b="1" dirty="0"/>
          </a:p>
        </p:txBody>
      </p:sp>
      <p:sp>
        <p:nvSpPr>
          <p:cNvPr id="293" name="Google Shape;293;p44"/>
          <p:cNvSpPr txBox="1">
            <a:spLocks noGrp="1"/>
          </p:cNvSpPr>
          <p:nvPr>
            <p:ph type="subTitle" idx="1"/>
          </p:nvPr>
        </p:nvSpPr>
        <p:spPr>
          <a:xfrm>
            <a:off x="709127" y="2361631"/>
            <a:ext cx="7072896" cy="109119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/>
            <a:r>
              <a:rPr lang="pt-BR" sz="2000" dirty="0"/>
              <a:t>Desenvolver um sistema inteligente de reconhecimento facial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para</a:t>
            </a:r>
            <a:r>
              <a:rPr lang="pt-BR" sz="2000" dirty="0"/>
              <a:t> o controle de presença dos estudantes no </a:t>
            </a:r>
            <a:r>
              <a:rPr lang="pt-AO" sz="2000" dirty="0"/>
              <a:t>ISP-BIÉ</a:t>
            </a:r>
            <a:r>
              <a:rPr lang="pt-BR" sz="2000" dirty="0"/>
              <a:t>.</a:t>
            </a:r>
            <a:endParaRPr lang="pt-AO" sz="2000" dirty="0">
              <a:solidFill>
                <a:schemeClr val="tx1">
                  <a:lumMod val="50000"/>
                </a:schemeClr>
              </a:solidFill>
              <a:latin typeface="+mj-lt"/>
            </a:endParaRPr>
          </a:p>
        </p:txBody>
      </p:sp>
      <p:grpSp>
        <p:nvGrpSpPr>
          <p:cNvPr id="294" name="Google Shape;294;p44"/>
          <p:cNvGrpSpPr/>
          <p:nvPr/>
        </p:nvGrpSpPr>
        <p:grpSpPr>
          <a:xfrm>
            <a:off x="239725" y="258566"/>
            <a:ext cx="8596750" cy="4626625"/>
            <a:chOff x="239725" y="258566"/>
            <a:chExt cx="8596750" cy="4626625"/>
          </a:xfrm>
        </p:grpSpPr>
        <p:sp>
          <p:nvSpPr>
            <p:cNvPr id="295" name="Google Shape;295;p44"/>
            <p:cNvSpPr/>
            <p:nvPr/>
          </p:nvSpPr>
          <p:spPr>
            <a:xfrm rot="-5400000" flipH="1">
              <a:off x="1016725" y="-518434"/>
              <a:ext cx="1166400" cy="27204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44"/>
            <p:cNvSpPr/>
            <p:nvPr/>
          </p:nvSpPr>
          <p:spPr>
            <a:xfrm rot="-5400000" flipH="1">
              <a:off x="6893075" y="2941791"/>
              <a:ext cx="1166400" cy="27204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86870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6"/>
          <p:cNvSpPr txBox="1">
            <a:spLocks noGrp="1"/>
          </p:cNvSpPr>
          <p:nvPr>
            <p:ph type="title"/>
          </p:nvPr>
        </p:nvSpPr>
        <p:spPr>
          <a:xfrm>
            <a:off x="625922" y="398371"/>
            <a:ext cx="7705543" cy="7213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pt-PT" sz="2800" b="1" dirty="0"/>
              <a:t>OBJECTIVOS </a:t>
            </a:r>
            <a:r>
              <a:rPr lang="pt-BR" sz="2800" b="1" dirty="0"/>
              <a:t>ESPECÍFICOS </a:t>
            </a:r>
            <a:endParaRPr sz="2800" dirty="0"/>
          </a:p>
        </p:txBody>
      </p:sp>
      <p:sp>
        <p:nvSpPr>
          <p:cNvPr id="4" name="Google Shape;317;p46">
            <a:extLst>
              <a:ext uri="{FF2B5EF4-FFF2-40B4-BE49-F238E27FC236}">
                <a16:creationId xmlns:a16="http://schemas.microsoft.com/office/drawing/2014/main" id="{EC7A9062-8293-47F7-AF32-0CD3ECC8585B}"/>
              </a:ext>
            </a:extLst>
          </p:cNvPr>
          <p:cNvSpPr txBox="1">
            <a:spLocks/>
          </p:cNvSpPr>
          <p:nvPr/>
        </p:nvSpPr>
        <p:spPr>
          <a:xfrm>
            <a:off x="1009277" y="1119674"/>
            <a:ext cx="6724259" cy="2111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thic A1 Medium"/>
              <a:buNone/>
              <a:defRPr sz="1400" b="0" i="0" u="none" strike="noStrike" cap="none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thic A1 Medium"/>
              <a:buNone/>
              <a:defRPr sz="2800" b="0" i="0" u="none" strike="noStrike" cap="none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thic A1 Medium"/>
              <a:buNone/>
              <a:defRPr sz="2800" b="0" i="0" u="none" strike="noStrike" cap="none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thic A1 Medium"/>
              <a:buNone/>
              <a:defRPr sz="2800" b="0" i="0" u="none" strike="noStrike" cap="none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thic A1 Medium"/>
              <a:buNone/>
              <a:defRPr sz="2800" b="0" i="0" u="none" strike="noStrike" cap="none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thic A1 Medium"/>
              <a:buNone/>
              <a:defRPr sz="2800" b="0" i="0" u="none" strike="noStrike" cap="none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thic A1 Medium"/>
              <a:buNone/>
              <a:defRPr sz="2800" b="0" i="0" u="none" strike="noStrike" cap="none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thic A1 Medium"/>
              <a:buNone/>
              <a:defRPr sz="2800" b="0" i="0" u="none" strike="noStrike" cap="none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thic A1 Medium"/>
              <a:buNone/>
              <a:defRPr sz="2800" b="0" i="0" u="none" strike="noStrike" cap="none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9pPr>
          </a:lstStyle>
          <a:p>
            <a:pPr marL="0" indent="0" algn="just">
              <a:lnSpc>
                <a:spcPct val="100000"/>
              </a:lnSpc>
            </a:pPr>
            <a:r>
              <a:rPr lang="pt-BR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Fundamentar os antecedentes históricos dos sistemas de controle de presença;</a:t>
            </a:r>
          </a:p>
          <a:p>
            <a:pPr marL="0" indent="0" algn="just">
              <a:lnSpc>
                <a:spcPct val="100000"/>
              </a:lnSpc>
            </a:pPr>
            <a:endParaRPr lang="pt-AO"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00000"/>
              </a:lnSpc>
            </a:pPr>
            <a:r>
              <a:rPr lang="pt-BR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Caracterizar a situação atual do controle de presença de estudantes no ISP-BIÉ;</a:t>
            </a:r>
            <a:r>
              <a:rPr lang="pt-PT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 algn="just">
              <a:lnSpc>
                <a:spcPct val="100000"/>
              </a:lnSpc>
            </a:pPr>
            <a:endParaRPr lang="pt-AO"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00000"/>
              </a:lnSpc>
            </a:pPr>
            <a:r>
              <a:rPr lang="pt-BR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Desenvolver o sistema inteligente de reconhecimento facial para o controle de presença dos estudantes no ISP-BIÉ;</a:t>
            </a:r>
          </a:p>
          <a:p>
            <a:pPr marL="0" indent="0" algn="just">
              <a:lnSpc>
                <a:spcPct val="100000"/>
              </a:lnSpc>
            </a:pPr>
            <a:endParaRPr lang="pt-PT"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00000"/>
              </a:lnSpc>
            </a:pPr>
            <a:r>
              <a:rPr lang="pt-BR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Avaliar a eficiência do sistema em termos de precisão no reconhecimento e melhoria da gestão de presença dos estudantes.</a:t>
            </a:r>
            <a:endParaRPr lang="pt-AO"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250000"/>
              </a:lnSpc>
            </a:pPr>
            <a:endParaRPr lang="pt-AO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250000"/>
              </a:lnSpc>
              <a:buAutoNum type="arabicPeriod"/>
            </a:pPr>
            <a:endParaRPr lang="pt-PT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250000"/>
              </a:lnSpc>
            </a:pPr>
            <a:endParaRPr lang="pt-AO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250000"/>
              </a:lnSpc>
            </a:pP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4"/>
          <p:cNvSpPr txBox="1">
            <a:spLocks noGrp="1"/>
          </p:cNvSpPr>
          <p:nvPr>
            <p:ph type="title"/>
          </p:nvPr>
        </p:nvSpPr>
        <p:spPr>
          <a:xfrm>
            <a:off x="1158323" y="258309"/>
            <a:ext cx="6436236" cy="68321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pt-BR" sz="3200" b="1" dirty="0"/>
              <a:t>METODOLOGIA E TECNOLOGIAS</a:t>
            </a:r>
            <a:endParaRPr lang="pt-AO" sz="3200" b="1" dirty="0"/>
          </a:p>
        </p:txBody>
      </p:sp>
      <p:pic>
        <p:nvPicPr>
          <p:cNvPr id="6" name="Espaço Reservado para Conteúdo 10">
            <a:extLst>
              <a:ext uri="{FF2B5EF4-FFF2-40B4-BE49-F238E27FC236}">
                <a16:creationId xmlns:a16="http://schemas.microsoft.com/office/drawing/2014/main" id="{BBB62820-7233-4E53-AC03-46FF65942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846" y="1817225"/>
            <a:ext cx="1220033" cy="683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435972B-8406-46D3-A975-6A497F5919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1214" y="1776439"/>
            <a:ext cx="1234930" cy="77183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946EC184-8CF9-460E-AF48-9D7DEC10EE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3926209" y="1776440"/>
            <a:ext cx="1220032" cy="78754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6D6646D1-6DB6-47A3-BA55-EE611EFB6B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846" y="2701826"/>
            <a:ext cx="1497011" cy="848976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0B9EEC43-BAE2-41AD-9096-61283A56FD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29198" y="2701826"/>
            <a:ext cx="1497011" cy="848976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EFA9C86A-63C4-4FA1-BB86-642297550C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02254" y="2717535"/>
            <a:ext cx="1748374" cy="848976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6D335C9B-9B06-44C1-9E64-A66D1267BDC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8390" y="2717534"/>
            <a:ext cx="1950353" cy="848977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3C6177D-EECE-4C66-AB63-CA2E425430C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4091" y="3657971"/>
            <a:ext cx="1006159" cy="1006159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E2BB90E2-38A1-4E84-B6AC-DC0491095C0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06879" y="3550802"/>
            <a:ext cx="1113328" cy="1113328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968165B4-F572-4742-9055-9653B535040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59812" y="3642651"/>
            <a:ext cx="1278578" cy="948399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5C6DDEEE-EED8-4D24-92A9-17F6C686558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35179" y="1686726"/>
            <a:ext cx="1779996" cy="95466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C7701954-3B84-4F15-A4AD-64F63B331B4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79214" y="3550802"/>
            <a:ext cx="1179622" cy="102453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C162E83-4E93-4654-879F-7C621E9B0AD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516144" y="925370"/>
            <a:ext cx="1648347" cy="663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391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92;p44">
            <a:extLst>
              <a:ext uri="{FF2B5EF4-FFF2-40B4-BE49-F238E27FC236}">
                <a16:creationId xmlns:a16="http://schemas.microsoft.com/office/drawing/2014/main" id="{AD3B938C-141B-402D-AC41-20E571FC39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53882" y="1064705"/>
            <a:ext cx="6436236" cy="6423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br>
              <a:rPr lang="pt-BR" sz="3200" b="1" dirty="0"/>
            </a:br>
            <a:r>
              <a:rPr lang="pt-BR" sz="3200" b="1" dirty="0"/>
              <a:t>Representação dos casos de uso do Sistema</a:t>
            </a:r>
            <a:endParaRPr lang="pt-AO" sz="3200" b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6A2F5D9-AE40-4D32-A0B5-9DB32C6DA67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327"/>
          <a:stretch/>
        </p:blipFill>
        <p:spPr>
          <a:xfrm>
            <a:off x="1709737" y="1707071"/>
            <a:ext cx="5724525" cy="26500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90871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6"/>
          <p:cNvSpPr txBox="1">
            <a:spLocks noGrp="1"/>
          </p:cNvSpPr>
          <p:nvPr>
            <p:ph type="title"/>
          </p:nvPr>
        </p:nvSpPr>
        <p:spPr>
          <a:xfrm>
            <a:off x="1642850" y="2240850"/>
            <a:ext cx="44619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fontAlgn="base"/>
            <a:r>
              <a:rPr lang="pt-PT" sz="4000" b="1" dirty="0"/>
              <a:t>CONCLUSÃO</a:t>
            </a:r>
            <a:endParaRPr lang="pt-AO" sz="4000" b="1" dirty="0"/>
          </a:p>
        </p:txBody>
      </p:sp>
      <p:grpSp>
        <p:nvGrpSpPr>
          <p:cNvPr id="522" name="Google Shape;522;p56"/>
          <p:cNvGrpSpPr/>
          <p:nvPr/>
        </p:nvGrpSpPr>
        <p:grpSpPr>
          <a:xfrm>
            <a:off x="282650" y="375216"/>
            <a:ext cx="2720400" cy="4527050"/>
            <a:chOff x="282650" y="375216"/>
            <a:chExt cx="2720400" cy="4527050"/>
          </a:xfrm>
          <a:solidFill>
            <a:schemeClr val="tx1"/>
          </a:solidFill>
        </p:grpSpPr>
        <p:sp>
          <p:nvSpPr>
            <p:cNvPr id="523" name="Google Shape;523;p56"/>
            <p:cNvSpPr/>
            <p:nvPr/>
          </p:nvSpPr>
          <p:spPr>
            <a:xfrm rot="5400000">
              <a:off x="1059650" y="2958866"/>
              <a:ext cx="1166400" cy="2720400"/>
            </a:xfrm>
            <a:prstGeom prst="round2DiagRect">
              <a:avLst>
                <a:gd name="adj1" fmla="val 50000"/>
                <a:gd name="adj2" fmla="val 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56"/>
            <p:cNvSpPr/>
            <p:nvPr/>
          </p:nvSpPr>
          <p:spPr>
            <a:xfrm rot="5400000" flipH="1">
              <a:off x="1059650" y="-401784"/>
              <a:ext cx="1166400" cy="2720400"/>
            </a:xfrm>
            <a:prstGeom prst="round2DiagRect">
              <a:avLst>
                <a:gd name="adj1" fmla="val 50000"/>
                <a:gd name="adj2" fmla="val 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8770188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Economy Major for College: Financial Management by Slidesgo">
  <a:themeElements>
    <a:clrScheme name="Simple Light">
      <a:dk1>
        <a:srgbClr val="233347"/>
      </a:dk1>
      <a:lt1>
        <a:srgbClr val="92AECE"/>
      </a:lt1>
      <a:dk2>
        <a:srgbClr val="F4F9FF"/>
      </a:dk2>
      <a:lt2>
        <a:srgbClr val="657F9E"/>
      </a:lt2>
      <a:accent1>
        <a:srgbClr val="C38080"/>
      </a:accent1>
      <a:accent2>
        <a:srgbClr val="E7ACAC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3334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1362</TotalTime>
  <Words>262</Words>
  <Application>Microsoft Office PowerPoint</Application>
  <PresentationFormat>Apresentação na tela (16:9)</PresentationFormat>
  <Paragraphs>35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8" baseType="lpstr">
      <vt:lpstr>Alata</vt:lpstr>
      <vt:lpstr>ArialMT</vt:lpstr>
      <vt:lpstr>Arial</vt:lpstr>
      <vt:lpstr>Bebas Neue</vt:lpstr>
      <vt:lpstr>Anaheim</vt:lpstr>
      <vt:lpstr>Gothic A1 Medium</vt:lpstr>
      <vt:lpstr>Economy Major for College: Financial Management by Slidesgo</vt:lpstr>
      <vt:lpstr>Instituto Superior Politécnico do Bié Departamento de Engenharias Curso de Engenharia Informática  Título Sistema Inteligente de Reconhecimento Facial para Controle de Presenças de Estudantes do ISP-BIÉ   </vt:lpstr>
      <vt:lpstr>Este projeto foca na abordagem de desafios enfrentados pelo Instituto Superior Politécnico do Bié (ISP-BIÉ) em relação ao controle de presença dos estudantes. Atualmente, a instituição carece de um sistema informático para essa finalidade, o que acarreta a ausência de relatórios informatizados e a facilidade de fraudes no método de controle de presença existente.  </vt:lpstr>
      <vt:lpstr>SITUAÇÕES PROBLEMÁTICAS: </vt:lpstr>
      <vt:lpstr>PROBLEMA CIENTÍFICO </vt:lpstr>
      <vt:lpstr>OBJECTO DE ESTUDO</vt:lpstr>
      <vt:lpstr>CAMPO DE ACÇÃO</vt:lpstr>
      <vt:lpstr>OBJECTIVO GERAL</vt:lpstr>
      <vt:lpstr>OBJECTIVOS ESPECÍFICOS </vt:lpstr>
      <vt:lpstr>METODOLOGIA E TECNOLOGIAS</vt:lpstr>
      <vt:lpstr> Representação dos casos de uso do Sistema</vt:lpstr>
      <vt:lpstr>CONCLUSÃO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SÍNODO PROVIANCIAL DO BIÉ INSTITUTO BÍBLICO   TRABALHO EM GRUPO DE LIDERANÇA II   TEMA:  COMO O CARÁCTER DESENVOLVE-SE O que Valorizamos, o que Servimos</dc:title>
  <dc:creator>JOAQUIM PAULO ALBERTO NANGAYAMALE</dc:creator>
  <cp:lastModifiedBy>JOAQUIM PAULO ALBERTO NANGAYAMALE</cp:lastModifiedBy>
  <cp:revision>83</cp:revision>
  <dcterms:modified xsi:type="dcterms:W3CDTF">2025-12-11T07:52:28Z</dcterms:modified>
</cp:coreProperties>
</file>